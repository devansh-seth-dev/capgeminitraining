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SF Pro Regular"/>
        <a:ea typeface="SF Pro Regular"/>
        <a:cs typeface="SF Pro Regular"/>
        <a:sym typeface="SF Pro Regular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SF Pro Regular"/>
        <a:ea typeface="SF Pro Regular"/>
        <a:cs typeface="SF Pro Regular"/>
        <a:sym typeface="SF Pro Regular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SF Pro Regular"/>
        <a:ea typeface="SF Pro Regular"/>
        <a:cs typeface="SF Pro Regular"/>
        <a:sym typeface="SF Pro Regular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SF Pro Regular"/>
        <a:ea typeface="SF Pro Regular"/>
        <a:cs typeface="SF Pro Regular"/>
        <a:sym typeface="SF Pro Regular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SF Pro Regular"/>
        <a:ea typeface="SF Pro Regular"/>
        <a:cs typeface="SF Pro Regular"/>
        <a:sym typeface="SF Pro Regular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SF Pro Regular"/>
        <a:ea typeface="SF Pro Regular"/>
        <a:cs typeface="SF Pro Regular"/>
        <a:sym typeface="SF Pro Regular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SF Pro Regular"/>
        <a:ea typeface="SF Pro Regular"/>
        <a:cs typeface="SF Pro Regular"/>
        <a:sym typeface="SF Pro Regular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SF Pro Regular"/>
        <a:ea typeface="SF Pro Regular"/>
        <a:cs typeface="SF Pro Regular"/>
        <a:sym typeface="SF Pro Regular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SF Pro Regular"/>
        <a:ea typeface="SF Pro Regular"/>
        <a:cs typeface="SF Pro Regular"/>
        <a:sym typeface="SF Pro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>
                <a:latin typeface="Graphik Light"/>
                <a:ea typeface="Graphik Light"/>
                <a:cs typeface="Graphik Light"/>
                <a:sym typeface="Graphik Light"/>
              </a:defRPr>
            </a:lvl1pPr>
            <a:lvl2pPr marL="0" indent="457200">
              <a:spcBef>
                <a:spcPts val="6000"/>
              </a:spcBef>
              <a:buSzTx/>
              <a:buNone/>
              <a:defRPr sz="5000">
                <a:latin typeface="Graphik Light"/>
                <a:ea typeface="Graphik Light"/>
                <a:cs typeface="Graphik Light"/>
                <a:sym typeface="Graphik Light"/>
              </a:defRPr>
            </a:lvl2pPr>
            <a:lvl3pPr marL="0" indent="914400">
              <a:spcBef>
                <a:spcPts val="6000"/>
              </a:spcBef>
              <a:buSzTx/>
              <a:buNone/>
              <a:defRPr sz="5000">
                <a:latin typeface="Graphik Light"/>
                <a:ea typeface="Graphik Light"/>
                <a:cs typeface="Graphik Light"/>
                <a:sym typeface="Graphik Light"/>
              </a:defRPr>
            </a:lvl3pPr>
            <a:lvl4pPr marL="0" indent="1371600">
              <a:spcBef>
                <a:spcPts val="6000"/>
              </a:spcBef>
              <a:buSzTx/>
              <a:buNone/>
              <a:defRPr sz="5000">
                <a:latin typeface="Graphik Light"/>
                <a:ea typeface="Graphik Light"/>
                <a:cs typeface="Graphik Light"/>
                <a:sym typeface="Graphik Light"/>
              </a:defRPr>
            </a:lvl4pPr>
            <a:lvl5pPr marL="0" indent="1828800">
              <a:spcBef>
                <a:spcPts val="6000"/>
              </a:spcBef>
              <a:buSzTx/>
              <a:buNone/>
              <a:defRPr sz="5000">
                <a:latin typeface="Graphik Light"/>
                <a:ea typeface="Graphik Light"/>
                <a:cs typeface="Graphik Light"/>
                <a:sym typeface="Graphik Light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e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SF Pro Regular"/>
          <a:ea typeface="SF Pro Regular"/>
          <a:cs typeface="SF Pro Regular"/>
          <a:sym typeface="SF Pro Regular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SF Pro Regular"/>
          <a:ea typeface="SF Pro Regular"/>
          <a:cs typeface="SF Pro Regular"/>
          <a:sym typeface="SF Pro Regular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SF Pro Regular"/>
          <a:ea typeface="SF Pro Regular"/>
          <a:cs typeface="SF Pro Regular"/>
          <a:sym typeface="SF Pro Regular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SF Pro Regular"/>
          <a:ea typeface="SF Pro Regular"/>
          <a:cs typeface="SF Pro Regular"/>
          <a:sym typeface="SF Pro Regular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SF Pro Regular"/>
          <a:ea typeface="SF Pro Regular"/>
          <a:cs typeface="SF Pro Regular"/>
          <a:sym typeface="SF Pro Regular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SF Pro Regular"/>
          <a:ea typeface="SF Pro Regular"/>
          <a:cs typeface="SF Pro Regular"/>
          <a:sym typeface="SF Pro Regular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SF Pro Regular"/>
          <a:ea typeface="SF Pro Regular"/>
          <a:cs typeface="SF Pro Regular"/>
          <a:sym typeface="SF Pro Regular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SF Pro Regular"/>
          <a:ea typeface="SF Pro Regular"/>
          <a:cs typeface="SF Pro Regular"/>
          <a:sym typeface="SF Pro Regular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SF Pro Regular"/>
          <a:ea typeface="SF Pro Regular"/>
          <a:cs typeface="SF Pro Regular"/>
          <a:sym typeface="SF Pro Regular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ysql://localhost:3306" TargetMode="Externa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J"/>
          <p:cNvSpPr txBox="1"/>
          <p:nvPr/>
        </p:nvSpPr>
        <p:spPr>
          <a:xfrm>
            <a:off x="5909354" y="6203950"/>
            <a:ext cx="617340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C54A9C"/>
                </a:solidFill>
              </a:defRPr>
            </a:lvl1pPr>
          </a:lstStyle>
          <a:p>
            <a:pPr/>
            <a:r>
              <a:t>J</a:t>
            </a:r>
          </a:p>
        </p:txBody>
      </p:sp>
      <p:sp>
        <p:nvSpPr>
          <p:cNvPr id="172" name="ava"/>
          <p:cNvSpPr txBox="1"/>
          <p:nvPr/>
        </p:nvSpPr>
        <p:spPr>
          <a:xfrm>
            <a:off x="6454614" y="6203950"/>
            <a:ext cx="1614985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ava</a:t>
            </a:r>
          </a:p>
        </p:txBody>
      </p:sp>
      <p:sp>
        <p:nvSpPr>
          <p:cNvPr id="173" name="D"/>
          <p:cNvSpPr txBox="1"/>
          <p:nvPr/>
        </p:nvSpPr>
        <p:spPr>
          <a:xfrm>
            <a:off x="8377387" y="6203950"/>
            <a:ext cx="803871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C54A9C"/>
                </a:solid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74" name="ata"/>
          <p:cNvSpPr txBox="1"/>
          <p:nvPr/>
        </p:nvSpPr>
        <p:spPr>
          <a:xfrm>
            <a:off x="9120339" y="6203950"/>
            <a:ext cx="1430438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ata</a:t>
            </a:r>
          </a:p>
        </p:txBody>
      </p:sp>
      <p:sp>
        <p:nvSpPr>
          <p:cNvPr id="175" name="B"/>
          <p:cNvSpPr txBox="1"/>
          <p:nvPr/>
        </p:nvSpPr>
        <p:spPr>
          <a:xfrm>
            <a:off x="10479263" y="6203950"/>
            <a:ext cx="728465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C54A9C"/>
                </a:solid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76" name="ase"/>
          <p:cNvSpPr txBox="1"/>
          <p:nvPr/>
        </p:nvSpPr>
        <p:spPr>
          <a:xfrm>
            <a:off x="11091645" y="6203950"/>
            <a:ext cx="1617465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ase</a:t>
            </a:r>
          </a:p>
        </p:txBody>
      </p:sp>
      <p:sp>
        <p:nvSpPr>
          <p:cNvPr id="177" name="C"/>
          <p:cNvSpPr txBox="1"/>
          <p:nvPr/>
        </p:nvSpPr>
        <p:spPr>
          <a:xfrm>
            <a:off x="12969074" y="6203950"/>
            <a:ext cx="811313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C54A9C"/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78" name="onnectivity"/>
          <p:cNvSpPr txBox="1"/>
          <p:nvPr/>
        </p:nvSpPr>
        <p:spPr>
          <a:xfrm>
            <a:off x="13705497" y="6203950"/>
            <a:ext cx="4769149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onnectivity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J"/>
          <p:cNvSpPr txBox="1"/>
          <p:nvPr/>
        </p:nvSpPr>
        <p:spPr>
          <a:xfrm>
            <a:off x="12489225" y="6273799"/>
            <a:ext cx="556196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C54A9C"/>
                </a:solidFill>
              </a:defRPr>
            </a:lvl1pPr>
          </a:lstStyle>
          <a:p>
            <a:pPr/>
            <a:r>
              <a:t>J</a:t>
            </a:r>
          </a:p>
        </p:txBody>
      </p:sp>
      <p:sp>
        <p:nvSpPr>
          <p:cNvPr id="181" name="D"/>
          <p:cNvSpPr txBox="1"/>
          <p:nvPr/>
        </p:nvSpPr>
        <p:spPr>
          <a:xfrm>
            <a:off x="12969861" y="6273799"/>
            <a:ext cx="71941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C54A9C"/>
                </a:solid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82" name="B"/>
          <p:cNvSpPr txBox="1"/>
          <p:nvPr/>
        </p:nvSpPr>
        <p:spPr>
          <a:xfrm>
            <a:off x="13565095" y="6273799"/>
            <a:ext cx="653431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C54A9C"/>
                </a:solid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3" name="C"/>
          <p:cNvSpPr txBox="1"/>
          <p:nvPr/>
        </p:nvSpPr>
        <p:spPr>
          <a:xfrm>
            <a:off x="14091093" y="6273799"/>
            <a:ext cx="725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C54A9C"/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4" name="WHAT IS"/>
          <p:cNvSpPr txBox="1"/>
          <p:nvPr/>
        </p:nvSpPr>
        <p:spPr>
          <a:xfrm>
            <a:off x="8797205" y="6273799"/>
            <a:ext cx="3473228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WHAT IS</a:t>
            </a:r>
          </a:p>
        </p:txBody>
      </p:sp>
      <p:sp>
        <p:nvSpPr>
          <p:cNvPr id="185" name="?"/>
          <p:cNvSpPr txBox="1"/>
          <p:nvPr/>
        </p:nvSpPr>
        <p:spPr>
          <a:xfrm>
            <a:off x="15035807" y="6273799"/>
            <a:ext cx="550988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5" grpId="2"/>
      <p:bldP build="whole" bldLvl="1" animBg="1" rev="0" advAuto="0" spid="18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J"/>
          <p:cNvSpPr txBox="1"/>
          <p:nvPr/>
        </p:nvSpPr>
        <p:spPr>
          <a:xfrm>
            <a:off x="2786425" y="708343"/>
            <a:ext cx="37053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C54A9C"/>
                </a:solidFill>
              </a:defRPr>
            </a:lvl1pPr>
          </a:lstStyle>
          <a:p>
            <a:pPr/>
            <a:r>
              <a:t>J</a:t>
            </a:r>
          </a:p>
        </p:txBody>
      </p:sp>
      <p:sp>
        <p:nvSpPr>
          <p:cNvPr id="188" name="D"/>
          <p:cNvSpPr txBox="1"/>
          <p:nvPr/>
        </p:nvSpPr>
        <p:spPr>
          <a:xfrm>
            <a:off x="3127361" y="708343"/>
            <a:ext cx="46379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C54A9C"/>
                </a:solid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89" name="B"/>
          <p:cNvSpPr txBox="1"/>
          <p:nvPr/>
        </p:nvSpPr>
        <p:spPr>
          <a:xfrm>
            <a:off x="3519394" y="708343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C54A9C"/>
                </a:solid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90" name="C"/>
          <p:cNvSpPr txBox="1"/>
          <p:nvPr/>
        </p:nvSpPr>
        <p:spPr>
          <a:xfrm>
            <a:off x="3892993" y="708343"/>
            <a:ext cx="46752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C54A9C"/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91" name="WHAT IS"/>
          <p:cNvSpPr txBox="1"/>
          <p:nvPr/>
        </p:nvSpPr>
        <p:spPr>
          <a:xfrm>
            <a:off x="669205" y="708343"/>
            <a:ext cx="205973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WHAT IS</a:t>
            </a:r>
          </a:p>
        </p:txBody>
      </p:sp>
      <p:sp>
        <p:nvSpPr>
          <p:cNvPr id="192" name="?"/>
          <p:cNvSpPr txBox="1"/>
          <p:nvPr/>
        </p:nvSpPr>
        <p:spPr>
          <a:xfrm>
            <a:off x="4431307" y="708343"/>
            <a:ext cx="36755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?</a:t>
            </a:r>
          </a:p>
        </p:txBody>
      </p:sp>
      <p:sp>
        <p:nvSpPr>
          <p:cNvPr id="193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4" name="Standard Java API"/>
          <p:cNvSpPr/>
          <p:nvPr/>
        </p:nvSpPr>
        <p:spPr>
          <a:xfrm>
            <a:off x="9063541" y="2382397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Standard Java API</a:t>
            </a:r>
          </a:p>
        </p:txBody>
      </p:sp>
      <p:sp>
        <p:nvSpPr>
          <p:cNvPr id="195" name="Part of java.sql package"/>
          <p:cNvSpPr/>
          <p:nvPr/>
        </p:nvSpPr>
        <p:spPr>
          <a:xfrm>
            <a:off x="9063541" y="11079602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Part of </a:t>
            </a:r>
            <a:r>
              <a:rPr>
                <a:solidFill>
                  <a:srgbClr val="34A3C5"/>
                </a:solidFill>
              </a:rPr>
              <a:t>java.sql</a:t>
            </a:r>
            <a:r>
              <a:t> package</a:t>
            </a:r>
          </a:p>
        </p:txBody>
      </p:sp>
      <p:sp>
        <p:nvSpPr>
          <p:cNvPr id="196" name="Allows interaction with RDB"/>
          <p:cNvSpPr/>
          <p:nvPr/>
        </p:nvSpPr>
        <p:spPr>
          <a:xfrm>
            <a:off x="9063541" y="6730999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Allows interaction with </a:t>
            </a:r>
            <a:r>
              <a:rPr i="1">
                <a:latin typeface="Graphik"/>
                <a:ea typeface="Graphik"/>
                <a:cs typeface="Graphik"/>
                <a:sym typeface="Graphik"/>
              </a:rPr>
              <a:t>RDB</a:t>
            </a:r>
          </a:p>
        </p:txBody>
      </p:sp>
      <p:sp>
        <p:nvSpPr>
          <p:cNvPr id="197" name="Universal Translator for DBs"/>
          <p:cNvSpPr/>
          <p:nvPr/>
        </p:nvSpPr>
        <p:spPr>
          <a:xfrm>
            <a:off x="9063541" y="4556698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Universal Translator for </a:t>
            </a:r>
            <a:r>
              <a:rPr i="1">
                <a:latin typeface="Graphik"/>
                <a:ea typeface="Graphik"/>
                <a:cs typeface="Graphik"/>
                <a:sym typeface="Graphik"/>
              </a:rPr>
              <a:t>DBs</a:t>
            </a:r>
          </a:p>
        </p:txBody>
      </p:sp>
      <p:sp>
        <p:nvSpPr>
          <p:cNvPr id="198" name="Provides common interface"/>
          <p:cNvSpPr/>
          <p:nvPr/>
        </p:nvSpPr>
        <p:spPr>
          <a:xfrm>
            <a:off x="9063541" y="8905301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Provides common interface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7" grpId="3"/>
      <p:bldP build="whole" bldLvl="1" animBg="1" rev="0" advAuto="0" spid="198" grpId="5"/>
      <p:bldP build="whole" bldLvl="1" animBg="1" rev="0" advAuto="0" spid="195" grpId="6"/>
      <p:bldP build="whole" bldLvl="1" animBg="1" rev="0" advAuto="0" spid="196" grpId="4"/>
      <p:bldP build="whole" bldLvl="1" animBg="1" rev="0" advAuto="0" spid="193" grpId="1"/>
      <p:bldP build="whole" bldLvl="1" animBg="1" rev="0" advAuto="0" spid="194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"/>
          <p:cNvSpPr txBox="1"/>
          <p:nvPr/>
        </p:nvSpPr>
        <p:spPr>
          <a:xfrm>
            <a:off x="5986992" y="6203950"/>
            <a:ext cx="647106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34A3C5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201" name="ibrary"/>
          <p:cNvSpPr txBox="1"/>
          <p:nvPr/>
        </p:nvSpPr>
        <p:spPr>
          <a:xfrm>
            <a:off x="6532253" y="6203950"/>
            <a:ext cx="2521348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ibrary</a:t>
            </a:r>
          </a:p>
        </p:txBody>
      </p:sp>
      <p:sp>
        <p:nvSpPr>
          <p:cNvPr id="202" name="M"/>
          <p:cNvSpPr txBox="1"/>
          <p:nvPr/>
        </p:nvSpPr>
        <p:spPr>
          <a:xfrm>
            <a:off x="9249041" y="6203950"/>
            <a:ext cx="958652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34A3C5"/>
                </a:solidFill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203" name="anagement"/>
          <p:cNvSpPr txBox="1"/>
          <p:nvPr/>
        </p:nvSpPr>
        <p:spPr>
          <a:xfrm>
            <a:off x="10058298" y="6203950"/>
            <a:ext cx="4925418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anagement</a:t>
            </a:r>
          </a:p>
        </p:txBody>
      </p:sp>
      <p:sp>
        <p:nvSpPr>
          <p:cNvPr id="204" name="S"/>
          <p:cNvSpPr txBox="1"/>
          <p:nvPr/>
        </p:nvSpPr>
        <p:spPr>
          <a:xfrm>
            <a:off x="15205713" y="6203950"/>
            <a:ext cx="717055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34A3C5"/>
                </a:solidFill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205" name="ystem"/>
          <p:cNvSpPr txBox="1"/>
          <p:nvPr/>
        </p:nvSpPr>
        <p:spPr>
          <a:xfrm>
            <a:off x="15815136" y="6203950"/>
            <a:ext cx="2708872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roup"/>
          <p:cNvGrpSpPr/>
          <p:nvPr/>
        </p:nvGrpSpPr>
        <p:grpSpPr>
          <a:xfrm>
            <a:off x="16495083" y="4794023"/>
            <a:ext cx="5534381" cy="2951001"/>
            <a:chOff x="0" y="384810"/>
            <a:chExt cx="5534380" cy="2951000"/>
          </a:xfrm>
        </p:grpSpPr>
        <p:sp>
          <p:nvSpPr>
            <p:cNvPr id="207" name="Rounded Rectangle"/>
            <p:cNvSpPr/>
            <p:nvPr/>
          </p:nvSpPr>
          <p:spPr>
            <a:xfrm>
              <a:off x="0" y="1086278"/>
              <a:ext cx="5534381" cy="2249533"/>
            </a:xfrm>
            <a:prstGeom prst="roundRect">
              <a:avLst>
                <a:gd name="adj" fmla="val 8468"/>
              </a:avLst>
            </a:prstGeom>
            <a:noFill/>
            <a:ln w="25400" cap="flat">
              <a:solidFill>
                <a:srgbClr val="C54A9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  <p:sp>
          <p:nvSpPr>
            <p:cNvPr id="208" name="Transaction Tables"/>
            <p:cNvSpPr/>
            <p:nvPr/>
          </p:nvSpPr>
          <p:spPr>
            <a:xfrm>
              <a:off x="537324" y="3848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Transaction Tables</a:t>
              </a:r>
            </a:p>
          </p:txBody>
        </p:sp>
      </p:grpSp>
      <p:grpSp>
        <p:nvGrpSpPr>
          <p:cNvPr id="212" name="Group"/>
          <p:cNvGrpSpPr/>
          <p:nvPr/>
        </p:nvGrpSpPr>
        <p:grpSpPr>
          <a:xfrm>
            <a:off x="9186398" y="4392891"/>
            <a:ext cx="5534381" cy="3352133"/>
            <a:chOff x="0" y="0"/>
            <a:chExt cx="5534380" cy="3352131"/>
          </a:xfrm>
        </p:grpSpPr>
        <p:sp>
          <p:nvSpPr>
            <p:cNvPr id="210" name="Rounded Rectangle"/>
            <p:cNvSpPr/>
            <p:nvPr/>
          </p:nvSpPr>
          <p:spPr>
            <a:xfrm>
              <a:off x="0" y="1102599"/>
              <a:ext cx="5534381" cy="2249533"/>
            </a:xfrm>
            <a:prstGeom prst="roundRect">
              <a:avLst>
                <a:gd name="adj" fmla="val 8468"/>
              </a:avLst>
            </a:prstGeom>
            <a:noFill/>
            <a:ln w="25400" cap="flat">
              <a:solidFill>
                <a:srgbClr val="C54A9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  <p:sp>
          <p:nvSpPr>
            <p:cNvPr id="211" name="Junction Tables"/>
            <p:cNvSpPr txBox="1"/>
            <p:nvPr/>
          </p:nvSpPr>
          <p:spPr>
            <a:xfrm>
              <a:off x="922896" y="0"/>
              <a:ext cx="3688589" cy="769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Junction Tables</a:t>
              </a:r>
            </a:p>
          </p:txBody>
        </p:sp>
      </p:grpSp>
      <p:grpSp>
        <p:nvGrpSpPr>
          <p:cNvPr id="215" name="Group"/>
          <p:cNvGrpSpPr/>
          <p:nvPr/>
        </p:nvGrpSpPr>
        <p:grpSpPr>
          <a:xfrm>
            <a:off x="2432956" y="4392891"/>
            <a:ext cx="4979139" cy="9070958"/>
            <a:chOff x="0" y="0"/>
            <a:chExt cx="4979138" cy="9070956"/>
          </a:xfrm>
        </p:grpSpPr>
        <p:sp>
          <p:nvSpPr>
            <p:cNvPr id="213" name="Rounded Rectangle"/>
            <p:cNvSpPr/>
            <p:nvPr/>
          </p:nvSpPr>
          <p:spPr>
            <a:xfrm>
              <a:off x="0" y="1102599"/>
              <a:ext cx="4979139" cy="7968358"/>
            </a:xfrm>
            <a:prstGeom prst="roundRect">
              <a:avLst>
                <a:gd name="adj" fmla="val 3826"/>
              </a:avLst>
            </a:prstGeom>
            <a:noFill/>
            <a:ln w="25400" cap="flat">
              <a:solidFill>
                <a:srgbClr val="C54A9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  <p:sp>
          <p:nvSpPr>
            <p:cNvPr id="214" name="Entity Tables"/>
            <p:cNvSpPr txBox="1"/>
            <p:nvPr/>
          </p:nvSpPr>
          <p:spPr>
            <a:xfrm>
              <a:off x="975983" y="0"/>
              <a:ext cx="3027173" cy="769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Entity Tables</a:t>
              </a:r>
            </a:p>
          </p:txBody>
        </p:sp>
      </p:grpSp>
      <p:sp>
        <p:nvSpPr>
          <p:cNvPr id="216" name="L"/>
          <p:cNvSpPr txBox="1"/>
          <p:nvPr/>
        </p:nvSpPr>
        <p:spPr>
          <a:xfrm>
            <a:off x="673100" y="711199"/>
            <a:ext cx="38541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217" name="M"/>
          <p:cNvSpPr txBox="1"/>
          <p:nvPr/>
        </p:nvSpPr>
        <p:spPr>
          <a:xfrm>
            <a:off x="1020778" y="711199"/>
            <a:ext cx="54119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218" name="S"/>
          <p:cNvSpPr txBox="1"/>
          <p:nvPr/>
        </p:nvSpPr>
        <p:spPr>
          <a:xfrm>
            <a:off x="1536853" y="711199"/>
            <a:ext cx="42039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219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0" name="Database   library_jdbc_db"/>
          <p:cNvSpPr/>
          <p:nvPr/>
        </p:nvSpPr>
        <p:spPr>
          <a:xfrm>
            <a:off x="9063541" y="2128397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Database   </a:t>
            </a:r>
            <a:r>
              <a:rPr i="1">
                <a:solidFill>
                  <a:srgbClr val="34A3C5"/>
                </a:solidFill>
                <a:latin typeface="Graphik"/>
                <a:ea typeface="Graphik"/>
                <a:cs typeface="Graphik"/>
                <a:sym typeface="Graphik"/>
              </a:rPr>
              <a:t>library_jdbc_db</a:t>
            </a:r>
          </a:p>
        </p:txBody>
      </p:sp>
      <p:sp>
        <p:nvSpPr>
          <p:cNvPr id="221" name="books"/>
          <p:cNvSpPr/>
          <p:nvPr/>
        </p:nvSpPr>
        <p:spPr>
          <a:xfrm>
            <a:off x="2890525" y="5985257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books</a:t>
            </a:r>
          </a:p>
        </p:txBody>
      </p:sp>
      <p:sp>
        <p:nvSpPr>
          <p:cNvPr id="222" name="authors"/>
          <p:cNvSpPr/>
          <p:nvPr/>
        </p:nvSpPr>
        <p:spPr>
          <a:xfrm>
            <a:off x="2890525" y="7927490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authors</a:t>
            </a:r>
          </a:p>
        </p:txBody>
      </p:sp>
      <p:sp>
        <p:nvSpPr>
          <p:cNvPr id="223" name="library_card"/>
          <p:cNvSpPr/>
          <p:nvPr/>
        </p:nvSpPr>
        <p:spPr>
          <a:xfrm>
            <a:off x="2890525" y="9869722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</a:t>
            </a:r>
          </a:p>
        </p:txBody>
      </p:sp>
      <p:sp>
        <p:nvSpPr>
          <p:cNvPr id="224" name="users"/>
          <p:cNvSpPr/>
          <p:nvPr/>
        </p:nvSpPr>
        <p:spPr>
          <a:xfrm>
            <a:off x="2890525" y="11760888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25" name="book_author_mapping"/>
          <p:cNvSpPr/>
          <p:nvPr/>
        </p:nvSpPr>
        <p:spPr>
          <a:xfrm>
            <a:off x="9643967" y="5985257"/>
            <a:ext cx="4717617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</a:t>
            </a:r>
          </a:p>
        </p:txBody>
      </p:sp>
      <p:sp>
        <p:nvSpPr>
          <p:cNvPr id="226" name="borrowed_books"/>
          <p:cNvSpPr/>
          <p:nvPr/>
        </p:nvSpPr>
        <p:spPr>
          <a:xfrm>
            <a:off x="16952652" y="5985257"/>
            <a:ext cx="4717617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borrowed_books</a:t>
            </a:r>
          </a:p>
        </p:txBody>
      </p:sp>
      <p:grpSp>
        <p:nvGrpSpPr>
          <p:cNvPr id="231" name="Group"/>
          <p:cNvGrpSpPr/>
          <p:nvPr/>
        </p:nvGrpSpPr>
        <p:grpSpPr>
          <a:xfrm>
            <a:off x="9199098" y="9234817"/>
            <a:ext cx="5508981" cy="2863706"/>
            <a:chOff x="0" y="0"/>
            <a:chExt cx="5508980" cy="2863704"/>
          </a:xfrm>
        </p:grpSpPr>
        <p:sp>
          <p:nvSpPr>
            <p:cNvPr id="227" name="RDBMS"/>
            <p:cNvSpPr txBox="1"/>
            <p:nvPr/>
          </p:nvSpPr>
          <p:spPr>
            <a:xfrm>
              <a:off x="1846694" y="0"/>
              <a:ext cx="1815593" cy="769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RDBMS</a:t>
              </a:r>
            </a:p>
          </p:txBody>
        </p:sp>
        <p:grpSp>
          <p:nvGrpSpPr>
            <p:cNvPr id="230" name="Group"/>
            <p:cNvGrpSpPr/>
            <p:nvPr/>
          </p:nvGrpSpPr>
          <p:grpSpPr>
            <a:xfrm>
              <a:off x="0" y="1115300"/>
              <a:ext cx="5508981" cy="1748405"/>
              <a:chOff x="0" y="0"/>
              <a:chExt cx="5508980" cy="1748404"/>
            </a:xfrm>
          </p:grpSpPr>
          <p:sp>
            <p:nvSpPr>
              <p:cNvPr id="228" name="Rounded Rectangle"/>
              <p:cNvSpPr/>
              <p:nvPr/>
            </p:nvSpPr>
            <p:spPr>
              <a:xfrm>
                <a:off x="0" y="0"/>
                <a:ext cx="5508981" cy="1748405"/>
              </a:xfrm>
              <a:prstGeom prst="roundRect">
                <a:avLst>
                  <a:gd name="adj" fmla="val 10896"/>
                </a:avLst>
              </a:prstGeom>
              <a:noFill/>
              <a:ln w="25400" cap="flat">
                <a:solidFill>
                  <a:srgbClr val="C54A9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spcBef>
                    <a:spcPts val="0"/>
                  </a:spcBef>
                  <a:defRPr sz="3200">
                    <a:latin typeface="Graphik Light"/>
                    <a:ea typeface="Graphik Light"/>
                    <a:cs typeface="Graphik Light"/>
                    <a:sym typeface="Graphik Light"/>
                  </a:defRPr>
                </a:pPr>
              </a:p>
            </p:txBody>
          </p:sp>
          <p:sp>
            <p:nvSpPr>
              <p:cNvPr id="229" name="MySQL"/>
              <p:cNvSpPr txBox="1"/>
              <p:nvPr/>
            </p:nvSpPr>
            <p:spPr>
              <a:xfrm>
                <a:off x="1744684" y="424462"/>
                <a:ext cx="2019612" cy="8994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5000">
                    <a:latin typeface="Monaco"/>
                    <a:ea typeface="Monaco"/>
                    <a:cs typeface="Monaco"/>
                    <a:sym typeface="Monaco"/>
                  </a:defRPr>
                </a:pPr>
                <a:r>
                  <a:rPr>
                    <a:solidFill>
                      <a:srgbClr val="34A3C5"/>
                    </a:solidFill>
                  </a:rPr>
                  <a:t>My</a:t>
                </a:r>
                <a:r>
                  <a:rPr>
                    <a:solidFill>
                      <a:schemeClr val="accent4">
                        <a:hueOff val="-297102"/>
                        <a:satOff val="16978"/>
                        <a:lumOff val="-20883"/>
                      </a:schemeClr>
                    </a:solidFill>
                  </a:rPr>
                  <a:t>SQL</a:t>
                </a:r>
              </a:p>
            </p:txBody>
          </p:sp>
        </p:grpSp>
      </p:grpSp>
      <p:grpSp>
        <p:nvGrpSpPr>
          <p:cNvPr id="236" name="Group"/>
          <p:cNvGrpSpPr/>
          <p:nvPr/>
        </p:nvGrpSpPr>
        <p:grpSpPr>
          <a:xfrm>
            <a:off x="16556969" y="9234817"/>
            <a:ext cx="5508982" cy="2863706"/>
            <a:chOff x="0" y="0"/>
            <a:chExt cx="5508980" cy="2863704"/>
          </a:xfrm>
        </p:grpSpPr>
        <p:sp>
          <p:nvSpPr>
            <p:cNvPr id="232" name="Java Development Kit"/>
            <p:cNvSpPr txBox="1"/>
            <p:nvPr/>
          </p:nvSpPr>
          <p:spPr>
            <a:xfrm>
              <a:off x="160134" y="0"/>
              <a:ext cx="5188713" cy="769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Graphik Medium"/>
                  <a:ea typeface="Graphik Medium"/>
                  <a:cs typeface="Graphik Medium"/>
                  <a:sym typeface="Graphik Medium"/>
                </a:rPr>
                <a:t>J</a:t>
              </a:r>
              <a:r>
                <a:t>ava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Graphik Medium"/>
                  <a:ea typeface="Graphik Medium"/>
                  <a:cs typeface="Graphik Medium"/>
                  <a:sym typeface="Graphik Medium"/>
                </a:rPr>
                <a:t>D</a:t>
              </a:r>
              <a:r>
                <a:t>evelopment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Graphik Medium"/>
                  <a:ea typeface="Graphik Medium"/>
                  <a:cs typeface="Graphik Medium"/>
                  <a:sym typeface="Graphik Medium"/>
                </a:rPr>
                <a:t>K</a:t>
              </a:r>
              <a:r>
                <a:t>it</a:t>
              </a:r>
            </a:p>
          </p:txBody>
        </p:sp>
        <p:grpSp>
          <p:nvGrpSpPr>
            <p:cNvPr id="235" name="Group"/>
            <p:cNvGrpSpPr/>
            <p:nvPr/>
          </p:nvGrpSpPr>
          <p:grpSpPr>
            <a:xfrm>
              <a:off x="0" y="1115300"/>
              <a:ext cx="5508981" cy="1748405"/>
              <a:chOff x="0" y="0"/>
              <a:chExt cx="5508980" cy="1748404"/>
            </a:xfrm>
          </p:grpSpPr>
          <p:sp>
            <p:nvSpPr>
              <p:cNvPr id="233" name="Rounded Rectangle"/>
              <p:cNvSpPr/>
              <p:nvPr/>
            </p:nvSpPr>
            <p:spPr>
              <a:xfrm>
                <a:off x="0" y="0"/>
                <a:ext cx="5508981" cy="1748405"/>
              </a:xfrm>
              <a:prstGeom prst="roundRect">
                <a:avLst>
                  <a:gd name="adj" fmla="val 10896"/>
                </a:avLst>
              </a:prstGeom>
              <a:noFill/>
              <a:ln w="25400" cap="flat">
                <a:solidFill>
                  <a:srgbClr val="C54A9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spcBef>
                    <a:spcPts val="0"/>
                  </a:spcBef>
                  <a:defRPr sz="3200">
                    <a:latin typeface="Graphik Light"/>
                    <a:ea typeface="Graphik Light"/>
                    <a:cs typeface="Graphik Light"/>
                    <a:sym typeface="Graphik Light"/>
                  </a:defRPr>
                </a:pPr>
              </a:p>
            </p:txBody>
          </p:sp>
          <p:sp>
            <p:nvSpPr>
              <p:cNvPr id="234" name="JDK 17.0.8"/>
              <p:cNvSpPr txBox="1"/>
              <p:nvPr/>
            </p:nvSpPr>
            <p:spPr>
              <a:xfrm>
                <a:off x="792030" y="424462"/>
                <a:ext cx="3924921" cy="8994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5000">
                    <a:solidFill>
                      <a:srgbClr val="34A3C5"/>
                    </a:solidFill>
                    <a:latin typeface="Monaco"/>
                    <a:ea typeface="Monaco"/>
                    <a:cs typeface="Monaco"/>
                    <a:sym typeface="Monaco"/>
                  </a:defRPr>
                </a:pPr>
                <a:r>
                  <a:rPr>
                    <a:solidFill>
                      <a:schemeClr val="accent4">
                        <a:hueOff val="-297102"/>
                        <a:satOff val="16978"/>
                        <a:lumOff val="-20883"/>
                      </a:schemeClr>
                    </a:solidFill>
                  </a:rPr>
                  <a:t>JDK</a:t>
                </a:r>
                <a:r>
                  <a:t> 17.0.8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6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Class="entr" nodeType="click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6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6" grpId="11"/>
      <p:bldP build="whole" bldLvl="1" animBg="1" rev="0" advAuto="0" spid="212" grpId="8"/>
      <p:bldP build="whole" bldLvl="1" animBg="1" rev="0" advAuto="0" spid="225" grpId="9"/>
      <p:bldP build="whole" bldLvl="1" animBg="1" rev="0" advAuto="0" spid="209" grpId="10"/>
      <p:bldP build="whole" bldLvl="1" animBg="1" rev="0" advAuto="0" spid="231" grpId="12"/>
      <p:bldP build="whole" bldLvl="1" animBg="1" rev="0" advAuto="0" spid="219" grpId="1"/>
      <p:bldP build="whole" bldLvl="1" animBg="1" rev="0" advAuto="0" spid="223" grpId="6"/>
      <p:bldP build="whole" bldLvl="1" animBg="1" rev="0" advAuto="0" spid="222" grpId="5"/>
      <p:bldP build="whole" bldLvl="1" animBg="1" rev="0" advAuto="0" spid="224" grpId="7"/>
      <p:bldP build="whole" bldLvl="1" animBg="1" rev="0" advAuto="0" spid="215" grpId="3"/>
      <p:bldP build="whole" bldLvl="1" animBg="1" rev="0" advAuto="0" spid="220" grpId="2"/>
      <p:bldP build="whole" bldLvl="1" animBg="1" rev="0" advAuto="0" spid="221" grpId="4"/>
      <p:bldP build="whole" bldLvl="1" animBg="1" rev="0" advAuto="0" spid="236" grpId="1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chemas"/>
          <p:cNvSpPr txBox="1"/>
          <p:nvPr/>
        </p:nvSpPr>
        <p:spPr>
          <a:xfrm>
            <a:off x="10145514" y="6203950"/>
            <a:ext cx="4092972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>
                <a:solidFill>
                  <a:srgbClr val="34A3C5"/>
                </a:solidFill>
              </a:defRPr>
            </a:lvl1pPr>
          </a:lstStyle>
          <a:p>
            <a:pPr/>
            <a:r>
              <a:t>Schemas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ounded Rectangle"/>
          <p:cNvSpPr/>
          <p:nvPr/>
        </p:nvSpPr>
        <p:spPr>
          <a:xfrm>
            <a:off x="3366520" y="4950802"/>
            <a:ext cx="18303175" cy="7298769"/>
          </a:xfrm>
          <a:prstGeom prst="roundRect">
            <a:avLst>
              <a:gd name="adj" fmla="val 2610"/>
            </a:avLst>
          </a:prstGeom>
          <a:ln w="25400">
            <a:solidFill>
              <a:srgbClr val="34A3C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41" name="Entity Tables"/>
          <p:cNvSpPr txBox="1"/>
          <p:nvPr/>
        </p:nvSpPr>
        <p:spPr>
          <a:xfrm>
            <a:off x="673100" y="711199"/>
            <a:ext cx="285050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Entity Tables</a:t>
            </a:r>
          </a:p>
        </p:txBody>
      </p:sp>
      <p:sp>
        <p:nvSpPr>
          <p:cNvPr id="242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3" name="books"/>
          <p:cNvSpPr/>
          <p:nvPr/>
        </p:nvSpPr>
        <p:spPr>
          <a:xfrm>
            <a:off x="1700441" y="2672036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books</a:t>
            </a:r>
          </a:p>
        </p:txBody>
      </p:sp>
      <p:sp>
        <p:nvSpPr>
          <p:cNvPr id="244" name="Line"/>
          <p:cNvSpPr/>
          <p:nvPr/>
        </p:nvSpPr>
        <p:spPr>
          <a:xfrm flipH="1" flipV="1">
            <a:off x="5717375" y="3957284"/>
            <a:ext cx="1043521" cy="958214"/>
          </a:xfrm>
          <a:prstGeom prst="line">
            <a:avLst/>
          </a:prstGeom>
          <a:ln w="38100">
            <a:solidFill>
              <a:srgbClr val="34A3C5"/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5" name="Schema"/>
          <p:cNvSpPr txBox="1"/>
          <p:nvPr/>
        </p:nvSpPr>
        <p:spPr>
          <a:xfrm>
            <a:off x="6926643" y="4051581"/>
            <a:ext cx="204520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Schema</a:t>
            </a:r>
          </a:p>
        </p:txBody>
      </p:sp>
      <p:sp>
        <p:nvSpPr>
          <p:cNvPr id="246" name="book_id"/>
          <p:cNvSpPr/>
          <p:nvPr/>
        </p:nvSpPr>
        <p:spPr>
          <a:xfrm>
            <a:off x="5046050" y="6064702"/>
            <a:ext cx="2642646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book_id</a:t>
            </a:r>
          </a:p>
        </p:txBody>
      </p:sp>
      <p:grpSp>
        <p:nvGrpSpPr>
          <p:cNvPr id="250" name="Group"/>
          <p:cNvGrpSpPr/>
          <p:nvPr/>
        </p:nvGrpSpPr>
        <p:grpSpPr>
          <a:xfrm>
            <a:off x="9253371" y="6327592"/>
            <a:ext cx="10084579" cy="744221"/>
            <a:chOff x="0" y="0"/>
            <a:chExt cx="10084577" cy="744220"/>
          </a:xfrm>
        </p:grpSpPr>
        <p:sp>
          <p:nvSpPr>
            <p:cNvPr id="247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248" name="PRIMARY KEY"/>
            <p:cNvSpPr/>
            <p:nvPr/>
          </p:nvSpPr>
          <p:spPr>
            <a:xfrm>
              <a:off x="1814818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PRIMARY KEY</a:t>
              </a:r>
            </a:p>
          </p:txBody>
        </p:sp>
        <p:sp>
          <p:nvSpPr>
            <p:cNvPr id="249" name="AUTO INCREMENT"/>
            <p:cNvSpPr/>
            <p:nvPr/>
          </p:nvSpPr>
          <p:spPr>
            <a:xfrm>
              <a:off x="5849204" y="0"/>
              <a:ext cx="4235374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AUTO INCREMENT</a:t>
              </a:r>
            </a:p>
          </p:txBody>
        </p:sp>
      </p:grpSp>
      <p:sp>
        <p:nvSpPr>
          <p:cNvPr id="251" name="title"/>
          <p:cNvSpPr/>
          <p:nvPr/>
        </p:nvSpPr>
        <p:spPr>
          <a:xfrm>
            <a:off x="5046050" y="7965186"/>
            <a:ext cx="2642646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title</a:t>
            </a:r>
          </a:p>
        </p:txBody>
      </p:sp>
      <p:grpSp>
        <p:nvGrpSpPr>
          <p:cNvPr id="254" name="Group"/>
          <p:cNvGrpSpPr/>
          <p:nvPr/>
        </p:nvGrpSpPr>
        <p:grpSpPr>
          <a:xfrm>
            <a:off x="9253371" y="8228076"/>
            <a:ext cx="6885536" cy="744221"/>
            <a:chOff x="0" y="0"/>
            <a:chExt cx="6885534" cy="744220"/>
          </a:xfrm>
        </p:grpSpPr>
        <p:sp>
          <p:nvSpPr>
            <p:cNvPr id="252" name="VARCHAR (150)"/>
            <p:cNvSpPr/>
            <p:nvPr/>
          </p:nvSpPr>
          <p:spPr>
            <a:xfrm>
              <a:off x="0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VARCHAR (150)</a:t>
              </a:r>
            </a:p>
          </p:txBody>
        </p:sp>
        <p:sp>
          <p:nvSpPr>
            <p:cNvPr id="253" name="NOT NULL"/>
            <p:cNvSpPr/>
            <p:nvPr/>
          </p:nvSpPr>
          <p:spPr>
            <a:xfrm>
              <a:off x="4060429" y="0"/>
              <a:ext cx="2825106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NOT NULL</a:t>
              </a:r>
            </a:p>
          </p:txBody>
        </p:sp>
      </p:grpSp>
      <p:sp>
        <p:nvSpPr>
          <p:cNvPr id="255" name="isbn"/>
          <p:cNvSpPr/>
          <p:nvPr/>
        </p:nvSpPr>
        <p:spPr>
          <a:xfrm>
            <a:off x="5046050" y="9865670"/>
            <a:ext cx="2642646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isbn</a:t>
            </a:r>
          </a:p>
        </p:txBody>
      </p:sp>
      <p:grpSp>
        <p:nvGrpSpPr>
          <p:cNvPr id="258" name="Group"/>
          <p:cNvGrpSpPr/>
          <p:nvPr/>
        </p:nvGrpSpPr>
        <p:grpSpPr>
          <a:xfrm>
            <a:off x="9253371" y="10128560"/>
            <a:ext cx="6885536" cy="744221"/>
            <a:chOff x="0" y="0"/>
            <a:chExt cx="6885534" cy="744220"/>
          </a:xfrm>
        </p:grpSpPr>
        <p:sp>
          <p:nvSpPr>
            <p:cNvPr id="256" name="VARCHAR (20)"/>
            <p:cNvSpPr/>
            <p:nvPr/>
          </p:nvSpPr>
          <p:spPr>
            <a:xfrm>
              <a:off x="0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VARCHAR (20)</a:t>
              </a:r>
            </a:p>
          </p:txBody>
        </p:sp>
        <p:sp>
          <p:nvSpPr>
            <p:cNvPr id="257" name="UNIQUE"/>
            <p:cNvSpPr/>
            <p:nvPr/>
          </p:nvSpPr>
          <p:spPr>
            <a:xfrm>
              <a:off x="4060429" y="0"/>
              <a:ext cx="2825106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UNIQUE</a:t>
              </a:r>
            </a:p>
          </p:txBody>
        </p:sp>
      </p:grpSp>
      <p:sp>
        <p:nvSpPr>
          <p:cNvPr id="259" name="Stores the catalog of books available. It connects to authors via mapping table and to borrowed_books via a foreign key."/>
          <p:cNvSpPr txBox="1"/>
          <p:nvPr/>
        </p:nvSpPr>
        <p:spPr>
          <a:xfrm>
            <a:off x="6926643" y="2659336"/>
            <a:ext cx="13366015" cy="101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2700">
                <a:latin typeface="Graphik"/>
                <a:ea typeface="Graphik"/>
                <a:cs typeface="Graphik"/>
                <a:sym typeface="Graphik"/>
              </a:defRPr>
            </a:pPr>
            <a:r>
              <a:t>Stores the catalog of books available. It connects to </a:t>
            </a:r>
            <a:r>
              <a:rPr>
                <a:solidFill>
                  <a:srgbClr val="34A3C5"/>
                </a:solidFill>
              </a:rPr>
              <a:t>authors</a:t>
            </a:r>
            <a:r>
              <a:t> via mapping table and to</a:t>
            </a:r>
            <a:br/>
            <a:r>
              <a:rPr>
                <a:solidFill>
                  <a:srgbClr val="34A3C5"/>
                </a:solidFill>
              </a:rPr>
              <a:t>borrowed_books</a:t>
            </a:r>
            <a:r>
              <a:t> via a foreign key.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6" grpId="1"/>
      <p:bldP build="whole" bldLvl="1" animBg="1" rev="0" advAuto="0" spid="251" grpId="3"/>
      <p:bldP build="whole" bldLvl="1" animBg="1" rev="0" advAuto="0" spid="250" grpId="2"/>
      <p:bldP build="whole" bldLvl="1" animBg="1" rev="0" advAuto="0" spid="254" grpId="4"/>
      <p:bldP build="whole" bldLvl="1" animBg="1" rev="0" advAuto="0" spid="255" grpId="5"/>
      <p:bldP build="whole" bldLvl="1" animBg="1" rev="0" advAuto="0" spid="258" grpId="6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ounded Rectangle"/>
          <p:cNvSpPr/>
          <p:nvPr/>
        </p:nvSpPr>
        <p:spPr>
          <a:xfrm>
            <a:off x="3366520" y="4950802"/>
            <a:ext cx="18303175" cy="7298769"/>
          </a:xfrm>
          <a:prstGeom prst="roundRect">
            <a:avLst>
              <a:gd name="adj" fmla="val 2610"/>
            </a:avLst>
          </a:prstGeom>
          <a:ln w="25400">
            <a:solidFill>
              <a:srgbClr val="34A3C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62" name="Entity Tables"/>
          <p:cNvSpPr txBox="1"/>
          <p:nvPr/>
        </p:nvSpPr>
        <p:spPr>
          <a:xfrm>
            <a:off x="673100" y="711199"/>
            <a:ext cx="285050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Entity Tables</a:t>
            </a:r>
          </a:p>
        </p:txBody>
      </p:sp>
      <p:sp>
        <p:nvSpPr>
          <p:cNvPr id="263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4" name="authors"/>
          <p:cNvSpPr/>
          <p:nvPr/>
        </p:nvSpPr>
        <p:spPr>
          <a:xfrm>
            <a:off x="1700441" y="2672036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authors</a:t>
            </a:r>
          </a:p>
        </p:txBody>
      </p:sp>
      <p:sp>
        <p:nvSpPr>
          <p:cNvPr id="265" name="Line"/>
          <p:cNvSpPr/>
          <p:nvPr/>
        </p:nvSpPr>
        <p:spPr>
          <a:xfrm flipH="1" flipV="1">
            <a:off x="5717375" y="3957284"/>
            <a:ext cx="1043522" cy="958214"/>
          </a:xfrm>
          <a:prstGeom prst="line">
            <a:avLst/>
          </a:prstGeom>
          <a:ln w="38100">
            <a:solidFill>
              <a:srgbClr val="34A3C5"/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6" name="Schema"/>
          <p:cNvSpPr txBox="1"/>
          <p:nvPr/>
        </p:nvSpPr>
        <p:spPr>
          <a:xfrm>
            <a:off x="6926643" y="4051581"/>
            <a:ext cx="204520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Schema</a:t>
            </a:r>
          </a:p>
        </p:txBody>
      </p:sp>
      <p:sp>
        <p:nvSpPr>
          <p:cNvPr id="267" name="author_id"/>
          <p:cNvSpPr/>
          <p:nvPr/>
        </p:nvSpPr>
        <p:spPr>
          <a:xfrm>
            <a:off x="5046050" y="6064702"/>
            <a:ext cx="2642646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author_id</a:t>
            </a:r>
          </a:p>
        </p:txBody>
      </p:sp>
      <p:grpSp>
        <p:nvGrpSpPr>
          <p:cNvPr id="271" name="Group"/>
          <p:cNvGrpSpPr/>
          <p:nvPr/>
        </p:nvGrpSpPr>
        <p:grpSpPr>
          <a:xfrm>
            <a:off x="9253371" y="6327592"/>
            <a:ext cx="10084579" cy="744221"/>
            <a:chOff x="0" y="0"/>
            <a:chExt cx="10084577" cy="744220"/>
          </a:xfrm>
        </p:grpSpPr>
        <p:sp>
          <p:nvSpPr>
            <p:cNvPr id="268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269" name="PRIMARY KEY"/>
            <p:cNvSpPr/>
            <p:nvPr/>
          </p:nvSpPr>
          <p:spPr>
            <a:xfrm>
              <a:off x="1814818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PRIMARY KEY</a:t>
              </a:r>
            </a:p>
          </p:txBody>
        </p:sp>
        <p:sp>
          <p:nvSpPr>
            <p:cNvPr id="270" name="AUTO INCREMENT"/>
            <p:cNvSpPr/>
            <p:nvPr/>
          </p:nvSpPr>
          <p:spPr>
            <a:xfrm>
              <a:off x="5849204" y="0"/>
              <a:ext cx="4235374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AUTO INCREMENT</a:t>
              </a:r>
            </a:p>
          </p:txBody>
        </p:sp>
      </p:grpSp>
      <p:sp>
        <p:nvSpPr>
          <p:cNvPr id="272" name="first_name"/>
          <p:cNvSpPr/>
          <p:nvPr/>
        </p:nvSpPr>
        <p:spPr>
          <a:xfrm>
            <a:off x="5046050" y="7965186"/>
            <a:ext cx="2642646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first_name</a:t>
            </a:r>
          </a:p>
        </p:txBody>
      </p:sp>
      <p:grpSp>
        <p:nvGrpSpPr>
          <p:cNvPr id="275" name="Group"/>
          <p:cNvGrpSpPr/>
          <p:nvPr/>
        </p:nvGrpSpPr>
        <p:grpSpPr>
          <a:xfrm>
            <a:off x="9253371" y="8228076"/>
            <a:ext cx="6885536" cy="744221"/>
            <a:chOff x="0" y="0"/>
            <a:chExt cx="6885534" cy="744220"/>
          </a:xfrm>
        </p:grpSpPr>
        <p:sp>
          <p:nvSpPr>
            <p:cNvPr id="273" name="VARCHAR (100)"/>
            <p:cNvSpPr/>
            <p:nvPr/>
          </p:nvSpPr>
          <p:spPr>
            <a:xfrm>
              <a:off x="0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VARCHAR (100)</a:t>
              </a:r>
            </a:p>
          </p:txBody>
        </p:sp>
        <p:sp>
          <p:nvSpPr>
            <p:cNvPr id="274" name="NOT NULL"/>
            <p:cNvSpPr/>
            <p:nvPr/>
          </p:nvSpPr>
          <p:spPr>
            <a:xfrm>
              <a:off x="4060429" y="0"/>
              <a:ext cx="2825106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NOT NULL</a:t>
              </a:r>
            </a:p>
          </p:txBody>
        </p:sp>
      </p:grpSp>
      <p:sp>
        <p:nvSpPr>
          <p:cNvPr id="276" name="last_name"/>
          <p:cNvSpPr/>
          <p:nvPr/>
        </p:nvSpPr>
        <p:spPr>
          <a:xfrm>
            <a:off x="5046050" y="9865670"/>
            <a:ext cx="2642646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last_name</a:t>
            </a:r>
          </a:p>
        </p:txBody>
      </p:sp>
      <p:grpSp>
        <p:nvGrpSpPr>
          <p:cNvPr id="279" name="Group"/>
          <p:cNvGrpSpPr/>
          <p:nvPr/>
        </p:nvGrpSpPr>
        <p:grpSpPr>
          <a:xfrm>
            <a:off x="9253371" y="10128560"/>
            <a:ext cx="6885536" cy="744221"/>
            <a:chOff x="0" y="0"/>
            <a:chExt cx="6885534" cy="744220"/>
          </a:xfrm>
        </p:grpSpPr>
        <p:sp>
          <p:nvSpPr>
            <p:cNvPr id="277" name="VARCHAR (100)"/>
            <p:cNvSpPr/>
            <p:nvPr/>
          </p:nvSpPr>
          <p:spPr>
            <a:xfrm>
              <a:off x="0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VARCHAR (100)</a:t>
              </a:r>
            </a:p>
          </p:txBody>
        </p:sp>
        <p:sp>
          <p:nvSpPr>
            <p:cNvPr id="278" name="NOT NULL"/>
            <p:cNvSpPr/>
            <p:nvPr/>
          </p:nvSpPr>
          <p:spPr>
            <a:xfrm>
              <a:off x="4060429" y="0"/>
              <a:ext cx="2825106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NOT NULL</a:t>
              </a:r>
            </a:p>
          </p:txBody>
        </p:sp>
      </p:grpSp>
      <p:sp>
        <p:nvSpPr>
          <p:cNvPr id="280" name="Stores details of people who write books. It is an independent entity used in the Many-to-Many relationship with books."/>
          <p:cNvSpPr txBox="1"/>
          <p:nvPr/>
        </p:nvSpPr>
        <p:spPr>
          <a:xfrm>
            <a:off x="6926643" y="2659336"/>
            <a:ext cx="12255705" cy="101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2700">
                <a:latin typeface="Graphik"/>
                <a:ea typeface="Graphik"/>
                <a:cs typeface="Graphik"/>
                <a:sym typeface="Graphik"/>
              </a:defRPr>
            </a:pPr>
            <a:r>
              <a:t>Stores details of people who write books. It is an independent entity used in the</a:t>
            </a:r>
            <a:br/>
            <a:r>
              <a:rPr>
                <a:solidFill>
                  <a:srgbClr val="C54A9C"/>
                </a:solidFill>
              </a:rPr>
              <a:t>Many-to-Many</a:t>
            </a:r>
            <a:r>
              <a:t> relationship with </a:t>
            </a:r>
            <a:r>
              <a:rPr>
                <a:solidFill>
                  <a:srgbClr val="34A3C5"/>
                </a:solidFill>
              </a:rPr>
              <a:t>books</a:t>
            </a:r>
            <a: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2" grpId="3"/>
      <p:bldP build="whole" bldLvl="1" animBg="1" rev="0" advAuto="0" spid="275" grpId="4"/>
      <p:bldP build="whole" bldLvl="1" animBg="1" rev="0" advAuto="0" spid="267" grpId="1"/>
      <p:bldP build="whole" bldLvl="1" animBg="1" rev="0" advAuto="0" spid="271" grpId="2"/>
      <p:bldP build="whole" bldLvl="1" animBg="1" rev="0" advAuto="0" spid="276" grpId="5"/>
      <p:bldP build="whole" bldLvl="1" animBg="1" rev="0" advAuto="0" spid="279" grpId="6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ounded Rectangle"/>
          <p:cNvSpPr/>
          <p:nvPr/>
        </p:nvSpPr>
        <p:spPr>
          <a:xfrm>
            <a:off x="3366520" y="4950802"/>
            <a:ext cx="18303175" cy="7298769"/>
          </a:xfrm>
          <a:prstGeom prst="roundRect">
            <a:avLst>
              <a:gd name="adj" fmla="val 2610"/>
            </a:avLst>
          </a:prstGeom>
          <a:ln w="25400">
            <a:solidFill>
              <a:srgbClr val="34A3C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83" name="Entity Tables"/>
          <p:cNvSpPr txBox="1"/>
          <p:nvPr/>
        </p:nvSpPr>
        <p:spPr>
          <a:xfrm>
            <a:off x="673100" y="711199"/>
            <a:ext cx="285050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Entity Tables</a:t>
            </a:r>
          </a:p>
        </p:txBody>
      </p:sp>
      <p:sp>
        <p:nvSpPr>
          <p:cNvPr id="284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5" name="library_cards"/>
          <p:cNvSpPr/>
          <p:nvPr/>
        </p:nvSpPr>
        <p:spPr>
          <a:xfrm>
            <a:off x="1700441" y="2672036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library_cards</a:t>
            </a:r>
          </a:p>
        </p:txBody>
      </p:sp>
      <p:sp>
        <p:nvSpPr>
          <p:cNvPr id="286" name="Line"/>
          <p:cNvSpPr/>
          <p:nvPr/>
        </p:nvSpPr>
        <p:spPr>
          <a:xfrm flipH="1" flipV="1">
            <a:off x="5717375" y="3957284"/>
            <a:ext cx="1043522" cy="958214"/>
          </a:xfrm>
          <a:prstGeom prst="line">
            <a:avLst/>
          </a:prstGeom>
          <a:ln w="38100">
            <a:solidFill>
              <a:srgbClr val="34A3C5"/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7" name="Schema"/>
          <p:cNvSpPr txBox="1"/>
          <p:nvPr/>
        </p:nvSpPr>
        <p:spPr>
          <a:xfrm>
            <a:off x="6926643" y="4051581"/>
            <a:ext cx="204520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Schema</a:t>
            </a:r>
          </a:p>
        </p:txBody>
      </p:sp>
      <p:sp>
        <p:nvSpPr>
          <p:cNvPr id="288" name="card_id"/>
          <p:cNvSpPr/>
          <p:nvPr/>
        </p:nvSpPr>
        <p:spPr>
          <a:xfrm>
            <a:off x="5046050" y="6064702"/>
            <a:ext cx="3011469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card_id</a:t>
            </a:r>
          </a:p>
        </p:txBody>
      </p:sp>
      <p:grpSp>
        <p:nvGrpSpPr>
          <p:cNvPr id="292" name="Group"/>
          <p:cNvGrpSpPr/>
          <p:nvPr/>
        </p:nvGrpSpPr>
        <p:grpSpPr>
          <a:xfrm>
            <a:off x="9253371" y="6327592"/>
            <a:ext cx="10084579" cy="744221"/>
            <a:chOff x="0" y="0"/>
            <a:chExt cx="10084577" cy="744220"/>
          </a:xfrm>
        </p:grpSpPr>
        <p:sp>
          <p:nvSpPr>
            <p:cNvPr id="289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290" name="PRIMARY KEY"/>
            <p:cNvSpPr/>
            <p:nvPr/>
          </p:nvSpPr>
          <p:spPr>
            <a:xfrm>
              <a:off x="1814818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PRIMARY KEY</a:t>
              </a:r>
            </a:p>
          </p:txBody>
        </p:sp>
        <p:sp>
          <p:nvSpPr>
            <p:cNvPr id="291" name="AUTO INCREMENT"/>
            <p:cNvSpPr/>
            <p:nvPr/>
          </p:nvSpPr>
          <p:spPr>
            <a:xfrm>
              <a:off x="5849204" y="0"/>
              <a:ext cx="4235374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AUTO INCREMENT</a:t>
              </a:r>
            </a:p>
          </p:txBody>
        </p:sp>
      </p:grpSp>
      <p:sp>
        <p:nvSpPr>
          <p:cNvPr id="293" name="card_number"/>
          <p:cNvSpPr/>
          <p:nvPr/>
        </p:nvSpPr>
        <p:spPr>
          <a:xfrm>
            <a:off x="5046050" y="7965186"/>
            <a:ext cx="3011469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card_number</a:t>
            </a:r>
          </a:p>
        </p:txBody>
      </p:sp>
      <p:sp>
        <p:nvSpPr>
          <p:cNvPr id="294" name="issue_date"/>
          <p:cNvSpPr/>
          <p:nvPr/>
        </p:nvSpPr>
        <p:spPr>
          <a:xfrm>
            <a:off x="5046050" y="9865670"/>
            <a:ext cx="3011469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issue_date</a:t>
            </a:r>
          </a:p>
        </p:txBody>
      </p:sp>
      <p:sp>
        <p:nvSpPr>
          <p:cNvPr id="295" name="DATE"/>
          <p:cNvSpPr/>
          <p:nvPr/>
        </p:nvSpPr>
        <p:spPr>
          <a:xfrm>
            <a:off x="9253371" y="10128560"/>
            <a:ext cx="2019809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rgbClr val="B46EC5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DATE</a:t>
            </a:r>
          </a:p>
        </p:txBody>
      </p:sp>
      <p:grpSp>
        <p:nvGrpSpPr>
          <p:cNvPr id="299" name="Group"/>
          <p:cNvGrpSpPr/>
          <p:nvPr/>
        </p:nvGrpSpPr>
        <p:grpSpPr>
          <a:xfrm>
            <a:off x="9253371" y="8228076"/>
            <a:ext cx="10092725" cy="744221"/>
            <a:chOff x="0" y="0"/>
            <a:chExt cx="10092723" cy="744220"/>
          </a:xfrm>
        </p:grpSpPr>
        <p:sp>
          <p:nvSpPr>
            <p:cNvPr id="296" name="VARCHAR (20)"/>
            <p:cNvSpPr/>
            <p:nvPr/>
          </p:nvSpPr>
          <p:spPr>
            <a:xfrm>
              <a:off x="0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VARCHAR (20)</a:t>
              </a:r>
            </a:p>
          </p:txBody>
        </p:sp>
        <p:sp>
          <p:nvSpPr>
            <p:cNvPr id="297" name="NOT NULL"/>
            <p:cNvSpPr/>
            <p:nvPr/>
          </p:nvSpPr>
          <p:spPr>
            <a:xfrm>
              <a:off x="7267618" y="0"/>
              <a:ext cx="2825106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NOT NULL</a:t>
              </a:r>
            </a:p>
          </p:txBody>
        </p:sp>
        <p:sp>
          <p:nvSpPr>
            <p:cNvPr id="298" name="UNIQUE"/>
            <p:cNvSpPr/>
            <p:nvPr/>
          </p:nvSpPr>
          <p:spPr>
            <a:xfrm>
              <a:off x="4060429" y="0"/>
              <a:ext cx="2825106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UNIQUE</a:t>
              </a:r>
            </a:p>
          </p:txBody>
        </p:sp>
      </p:grpSp>
      <p:sp>
        <p:nvSpPr>
          <p:cNvPr id="300" name="Stores unique identification details for a library member. Used to demonstrate One-to-One relationship with users."/>
          <p:cNvSpPr txBox="1"/>
          <p:nvPr/>
        </p:nvSpPr>
        <p:spPr>
          <a:xfrm>
            <a:off x="6926643" y="2659336"/>
            <a:ext cx="12080140" cy="101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2700">
                <a:latin typeface="Graphik"/>
                <a:ea typeface="Graphik"/>
                <a:cs typeface="Graphik"/>
                <a:sym typeface="Graphik"/>
              </a:defRPr>
            </a:pPr>
            <a:r>
              <a:t>Stores unique identification details for a library member. Used to demonstrate</a:t>
            </a:r>
            <a:br/>
            <a:r>
              <a:rPr>
                <a:solidFill>
                  <a:srgbClr val="C54A9C"/>
                </a:solidFill>
              </a:rPr>
              <a:t>One-to-One</a:t>
            </a:r>
            <a:r>
              <a:t> relationship with </a:t>
            </a:r>
            <a:r>
              <a:rPr>
                <a:solidFill>
                  <a:srgbClr val="34A3C5"/>
                </a:solidFill>
              </a:rPr>
              <a:t>users</a:t>
            </a:r>
            <a: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9" grpId="4"/>
      <p:bldP build="whole" bldLvl="1" animBg="1" rev="0" advAuto="0" spid="294" grpId="5"/>
      <p:bldP build="whole" bldLvl="1" animBg="1" rev="0" advAuto="0" spid="295" grpId="6"/>
      <p:bldP build="whole" bldLvl="1" animBg="1" rev="0" advAuto="0" spid="292" grpId="2"/>
      <p:bldP build="whole" bldLvl="1" animBg="1" rev="0" advAuto="0" spid="288" grpId="1"/>
      <p:bldP build="whole" bldLvl="1" animBg="1" rev="0" advAuto="0" spid="293" grpId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ounded Rectangle"/>
          <p:cNvSpPr/>
          <p:nvPr/>
        </p:nvSpPr>
        <p:spPr>
          <a:xfrm>
            <a:off x="3366520" y="4950802"/>
            <a:ext cx="18303175" cy="8269184"/>
          </a:xfrm>
          <a:prstGeom prst="roundRect">
            <a:avLst>
              <a:gd name="adj" fmla="val 2304"/>
            </a:avLst>
          </a:prstGeom>
          <a:ln w="25400">
            <a:solidFill>
              <a:srgbClr val="34A3C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03" name="Entity Tables"/>
          <p:cNvSpPr txBox="1"/>
          <p:nvPr/>
        </p:nvSpPr>
        <p:spPr>
          <a:xfrm>
            <a:off x="673100" y="711199"/>
            <a:ext cx="285050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Entity Tables</a:t>
            </a:r>
          </a:p>
        </p:txBody>
      </p:sp>
      <p:sp>
        <p:nvSpPr>
          <p:cNvPr id="304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5" name="users"/>
          <p:cNvSpPr/>
          <p:nvPr/>
        </p:nvSpPr>
        <p:spPr>
          <a:xfrm>
            <a:off x="1700441" y="2672036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306" name="Line"/>
          <p:cNvSpPr/>
          <p:nvPr/>
        </p:nvSpPr>
        <p:spPr>
          <a:xfrm flipH="1" flipV="1">
            <a:off x="5717375" y="3957284"/>
            <a:ext cx="1043522" cy="958214"/>
          </a:xfrm>
          <a:prstGeom prst="line">
            <a:avLst/>
          </a:prstGeom>
          <a:ln w="38100">
            <a:solidFill>
              <a:srgbClr val="34A3C5"/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7" name="Schema"/>
          <p:cNvSpPr txBox="1"/>
          <p:nvPr/>
        </p:nvSpPr>
        <p:spPr>
          <a:xfrm>
            <a:off x="6926643" y="4051581"/>
            <a:ext cx="204520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Schema</a:t>
            </a:r>
          </a:p>
        </p:txBody>
      </p:sp>
      <p:sp>
        <p:nvSpPr>
          <p:cNvPr id="308" name="Represents the library members. It holds a foreign key to the card, completing the One-to-One link with the library_cards."/>
          <p:cNvSpPr txBox="1"/>
          <p:nvPr/>
        </p:nvSpPr>
        <p:spPr>
          <a:xfrm>
            <a:off x="6926643" y="2659336"/>
            <a:ext cx="12054422" cy="101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2700">
                <a:latin typeface="Graphik"/>
                <a:ea typeface="Graphik"/>
                <a:cs typeface="Graphik"/>
                <a:sym typeface="Graphik"/>
              </a:defRPr>
            </a:pPr>
            <a:r>
              <a:t>Represents the library members. It holds a foreign key to the card, completing</a:t>
            </a:r>
            <a:br/>
            <a:r>
              <a:t>the </a:t>
            </a:r>
            <a:r>
              <a:rPr>
                <a:solidFill>
                  <a:srgbClr val="C54A9C"/>
                </a:solidFill>
              </a:rPr>
              <a:t>One-to-One</a:t>
            </a:r>
            <a:r>
              <a:t> link with the </a:t>
            </a:r>
            <a:r>
              <a:rPr>
                <a:solidFill>
                  <a:srgbClr val="34A3C5"/>
                </a:solidFill>
              </a:rPr>
              <a:t>library_cards</a:t>
            </a:r>
            <a:r>
              <a:t>.</a:t>
            </a:r>
          </a:p>
        </p:txBody>
      </p:sp>
      <p:sp>
        <p:nvSpPr>
          <p:cNvPr id="309" name="user_id"/>
          <p:cNvSpPr/>
          <p:nvPr/>
        </p:nvSpPr>
        <p:spPr>
          <a:xfrm>
            <a:off x="5046050" y="5416808"/>
            <a:ext cx="2642647" cy="987172"/>
          </a:xfrm>
          <a:prstGeom prst="roundRect">
            <a:avLst>
              <a:gd name="adj" fmla="val 19298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user_id</a:t>
            </a:r>
          </a:p>
        </p:txBody>
      </p:sp>
      <p:grpSp>
        <p:nvGrpSpPr>
          <p:cNvPr id="313" name="Group"/>
          <p:cNvGrpSpPr/>
          <p:nvPr/>
        </p:nvGrpSpPr>
        <p:grpSpPr>
          <a:xfrm>
            <a:off x="9253371" y="5538284"/>
            <a:ext cx="10084579" cy="744221"/>
            <a:chOff x="0" y="0"/>
            <a:chExt cx="10084577" cy="744220"/>
          </a:xfrm>
        </p:grpSpPr>
        <p:sp>
          <p:nvSpPr>
            <p:cNvPr id="310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311" name="PRIMARY KEY"/>
            <p:cNvSpPr/>
            <p:nvPr/>
          </p:nvSpPr>
          <p:spPr>
            <a:xfrm>
              <a:off x="1814818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PRIMARY KEY</a:t>
              </a:r>
            </a:p>
          </p:txBody>
        </p:sp>
        <p:sp>
          <p:nvSpPr>
            <p:cNvPr id="312" name="AUTO INCREMENT"/>
            <p:cNvSpPr/>
            <p:nvPr/>
          </p:nvSpPr>
          <p:spPr>
            <a:xfrm>
              <a:off x="5849204" y="0"/>
              <a:ext cx="4235374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AUTO INCREMENT</a:t>
              </a:r>
            </a:p>
          </p:txBody>
        </p:sp>
      </p:grpSp>
      <p:sp>
        <p:nvSpPr>
          <p:cNvPr id="314" name="first_name"/>
          <p:cNvSpPr/>
          <p:nvPr/>
        </p:nvSpPr>
        <p:spPr>
          <a:xfrm>
            <a:off x="5046050" y="7004308"/>
            <a:ext cx="2642647" cy="987172"/>
          </a:xfrm>
          <a:prstGeom prst="roundRect">
            <a:avLst>
              <a:gd name="adj" fmla="val 19298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first_name</a:t>
            </a:r>
          </a:p>
        </p:txBody>
      </p:sp>
      <p:grpSp>
        <p:nvGrpSpPr>
          <p:cNvPr id="317" name="Group"/>
          <p:cNvGrpSpPr/>
          <p:nvPr/>
        </p:nvGrpSpPr>
        <p:grpSpPr>
          <a:xfrm>
            <a:off x="9253371" y="7125783"/>
            <a:ext cx="6885536" cy="744221"/>
            <a:chOff x="0" y="0"/>
            <a:chExt cx="6885534" cy="744220"/>
          </a:xfrm>
        </p:grpSpPr>
        <p:sp>
          <p:nvSpPr>
            <p:cNvPr id="315" name="VARCHAR (100)"/>
            <p:cNvSpPr/>
            <p:nvPr/>
          </p:nvSpPr>
          <p:spPr>
            <a:xfrm>
              <a:off x="0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VARCHAR (100)</a:t>
              </a:r>
            </a:p>
          </p:txBody>
        </p:sp>
        <p:sp>
          <p:nvSpPr>
            <p:cNvPr id="316" name="NOT NULL"/>
            <p:cNvSpPr/>
            <p:nvPr/>
          </p:nvSpPr>
          <p:spPr>
            <a:xfrm>
              <a:off x="4060429" y="0"/>
              <a:ext cx="2825106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NOT NULL</a:t>
              </a:r>
            </a:p>
          </p:txBody>
        </p:sp>
      </p:grpSp>
      <p:sp>
        <p:nvSpPr>
          <p:cNvPr id="318" name="last_name"/>
          <p:cNvSpPr/>
          <p:nvPr/>
        </p:nvSpPr>
        <p:spPr>
          <a:xfrm>
            <a:off x="5046050" y="8591808"/>
            <a:ext cx="2642647" cy="987172"/>
          </a:xfrm>
          <a:prstGeom prst="roundRect">
            <a:avLst>
              <a:gd name="adj" fmla="val 19298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last_name</a:t>
            </a:r>
          </a:p>
        </p:txBody>
      </p:sp>
      <p:grpSp>
        <p:nvGrpSpPr>
          <p:cNvPr id="321" name="Group"/>
          <p:cNvGrpSpPr/>
          <p:nvPr/>
        </p:nvGrpSpPr>
        <p:grpSpPr>
          <a:xfrm>
            <a:off x="9253371" y="8713283"/>
            <a:ext cx="6885536" cy="744221"/>
            <a:chOff x="0" y="0"/>
            <a:chExt cx="6885534" cy="744220"/>
          </a:xfrm>
        </p:grpSpPr>
        <p:sp>
          <p:nvSpPr>
            <p:cNvPr id="319" name="VARCHAR (100)"/>
            <p:cNvSpPr/>
            <p:nvPr/>
          </p:nvSpPr>
          <p:spPr>
            <a:xfrm>
              <a:off x="0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VARCHAR (100)</a:t>
              </a:r>
            </a:p>
          </p:txBody>
        </p:sp>
        <p:sp>
          <p:nvSpPr>
            <p:cNvPr id="320" name="NOT NULL"/>
            <p:cNvSpPr/>
            <p:nvPr/>
          </p:nvSpPr>
          <p:spPr>
            <a:xfrm>
              <a:off x="4060429" y="0"/>
              <a:ext cx="2825106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NOT NULL</a:t>
              </a:r>
            </a:p>
          </p:txBody>
        </p:sp>
      </p:grpSp>
      <p:sp>
        <p:nvSpPr>
          <p:cNvPr id="322" name="email"/>
          <p:cNvSpPr/>
          <p:nvPr/>
        </p:nvSpPr>
        <p:spPr>
          <a:xfrm>
            <a:off x="5046050" y="10179308"/>
            <a:ext cx="2642647" cy="987172"/>
          </a:xfrm>
          <a:prstGeom prst="roundRect">
            <a:avLst>
              <a:gd name="adj" fmla="val 19298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email</a:t>
            </a:r>
          </a:p>
        </p:txBody>
      </p:sp>
      <p:sp>
        <p:nvSpPr>
          <p:cNvPr id="323" name="VARCHAR (100)"/>
          <p:cNvSpPr/>
          <p:nvPr/>
        </p:nvSpPr>
        <p:spPr>
          <a:xfrm>
            <a:off x="9253371" y="10300783"/>
            <a:ext cx="367834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rgbClr val="B46EC5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VARCHAR (100)</a:t>
            </a:r>
          </a:p>
        </p:txBody>
      </p:sp>
      <p:sp>
        <p:nvSpPr>
          <p:cNvPr id="324" name="card_id"/>
          <p:cNvSpPr/>
          <p:nvPr/>
        </p:nvSpPr>
        <p:spPr>
          <a:xfrm>
            <a:off x="5046050" y="11766808"/>
            <a:ext cx="2642647" cy="987172"/>
          </a:xfrm>
          <a:prstGeom prst="roundRect">
            <a:avLst>
              <a:gd name="adj" fmla="val 19298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card_id</a:t>
            </a:r>
          </a:p>
        </p:txBody>
      </p:sp>
      <p:grpSp>
        <p:nvGrpSpPr>
          <p:cNvPr id="328" name="Group"/>
          <p:cNvGrpSpPr/>
          <p:nvPr/>
        </p:nvGrpSpPr>
        <p:grpSpPr>
          <a:xfrm>
            <a:off x="9253371" y="11888283"/>
            <a:ext cx="8266343" cy="744221"/>
            <a:chOff x="0" y="0"/>
            <a:chExt cx="8266341" cy="744220"/>
          </a:xfrm>
        </p:grpSpPr>
        <p:sp>
          <p:nvSpPr>
            <p:cNvPr id="325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326" name="UNIQUE"/>
            <p:cNvSpPr/>
            <p:nvPr/>
          </p:nvSpPr>
          <p:spPr>
            <a:xfrm>
              <a:off x="1852183" y="0"/>
              <a:ext cx="2825106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UNIQUE</a:t>
              </a:r>
            </a:p>
          </p:txBody>
        </p:sp>
        <p:sp>
          <p:nvSpPr>
            <p:cNvPr id="327" name="FOREIGN KEY"/>
            <p:cNvSpPr/>
            <p:nvPr/>
          </p:nvSpPr>
          <p:spPr>
            <a:xfrm>
              <a:off x="5070692" y="0"/>
              <a:ext cx="3195650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FOREIGN KEY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9" grpId="1"/>
      <p:bldP build="whole" bldLvl="1" animBg="1" rev="0" advAuto="0" spid="313" grpId="2"/>
      <p:bldP build="whole" bldLvl="1" animBg="1" rev="0" advAuto="0" spid="324" grpId="9"/>
      <p:bldP build="whole" bldLvl="1" animBg="1" rev="0" advAuto="0" spid="328" grpId="10"/>
      <p:bldP build="whole" bldLvl="1" animBg="1" rev="0" advAuto="0" spid="323" grpId="8"/>
      <p:bldP build="whole" bldLvl="1" animBg="1" rev="0" advAuto="0" spid="322" grpId="7"/>
      <p:bldP build="whole" bldLvl="1" animBg="1" rev="0" advAuto="0" spid="314" grpId="3"/>
      <p:bldP build="whole" bldLvl="1" animBg="1" rev="0" advAuto="0" spid="318" grpId="5"/>
      <p:bldP build="whole" bldLvl="1" animBg="1" rev="0" advAuto="0" spid="321" grpId="6"/>
      <p:bldP build="whole" bldLvl="1" animBg="1" rev="0" advAuto="0" spid="317" grpId="4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ounded Rectangle"/>
          <p:cNvSpPr/>
          <p:nvPr/>
        </p:nvSpPr>
        <p:spPr>
          <a:xfrm>
            <a:off x="3366520" y="4950802"/>
            <a:ext cx="18303175" cy="7298769"/>
          </a:xfrm>
          <a:prstGeom prst="roundRect">
            <a:avLst>
              <a:gd name="adj" fmla="val 2610"/>
            </a:avLst>
          </a:prstGeom>
          <a:ln w="25400">
            <a:solidFill>
              <a:srgbClr val="34A3C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31" name="Junction Tables"/>
          <p:cNvSpPr txBox="1"/>
          <p:nvPr/>
        </p:nvSpPr>
        <p:spPr>
          <a:xfrm>
            <a:off x="673100" y="711199"/>
            <a:ext cx="3490218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Junction Tables</a:t>
            </a:r>
          </a:p>
        </p:txBody>
      </p:sp>
      <p:sp>
        <p:nvSpPr>
          <p:cNvPr id="332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3" name="book_author_mapping"/>
          <p:cNvSpPr/>
          <p:nvPr/>
        </p:nvSpPr>
        <p:spPr>
          <a:xfrm>
            <a:off x="1700441" y="2672036"/>
            <a:ext cx="4573723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</a:t>
            </a:r>
          </a:p>
        </p:txBody>
      </p:sp>
      <p:sp>
        <p:nvSpPr>
          <p:cNvPr id="334" name="Line"/>
          <p:cNvSpPr/>
          <p:nvPr/>
        </p:nvSpPr>
        <p:spPr>
          <a:xfrm flipH="1" flipV="1">
            <a:off x="6239657" y="3957284"/>
            <a:ext cx="1043521" cy="958214"/>
          </a:xfrm>
          <a:prstGeom prst="line">
            <a:avLst/>
          </a:prstGeom>
          <a:ln w="38100">
            <a:solidFill>
              <a:srgbClr val="34A3C5"/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5" name="Schema"/>
          <p:cNvSpPr txBox="1"/>
          <p:nvPr/>
        </p:nvSpPr>
        <p:spPr>
          <a:xfrm>
            <a:off x="7481567" y="4051581"/>
            <a:ext cx="204520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Schema</a:t>
            </a:r>
          </a:p>
        </p:txBody>
      </p:sp>
      <p:sp>
        <p:nvSpPr>
          <p:cNvPr id="336" name="A “Join Table” that links books and authors. It allow one book to have multiple  authors and vice versa (Many-To-Many)"/>
          <p:cNvSpPr txBox="1"/>
          <p:nvPr/>
        </p:nvSpPr>
        <p:spPr>
          <a:xfrm>
            <a:off x="7481567" y="2659336"/>
            <a:ext cx="11999901" cy="101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2700">
                <a:latin typeface="Graphik"/>
                <a:ea typeface="Graphik"/>
                <a:cs typeface="Graphik"/>
                <a:sym typeface="Graphik"/>
              </a:defRPr>
            </a:pPr>
            <a:r>
              <a:t>A “Join Table” that links </a:t>
            </a:r>
            <a:r>
              <a:rPr>
                <a:solidFill>
                  <a:srgbClr val="34A3C5"/>
                </a:solidFill>
              </a:rPr>
              <a:t>books</a:t>
            </a:r>
            <a:r>
              <a:t> and </a:t>
            </a:r>
            <a:r>
              <a:rPr>
                <a:solidFill>
                  <a:srgbClr val="34A3C5"/>
                </a:solidFill>
              </a:rPr>
              <a:t>authors</a:t>
            </a:r>
            <a:r>
              <a:t>. It allow one book to have multiple </a:t>
            </a:r>
            <a:br/>
            <a:r>
              <a:t>authors and vice versa (</a:t>
            </a:r>
            <a:r>
              <a:rPr>
                <a:solidFill>
                  <a:srgbClr val="C54A9C"/>
                </a:solidFill>
              </a:rPr>
              <a:t>Many-To-Many</a:t>
            </a:r>
            <a:r>
              <a:t>)</a:t>
            </a:r>
          </a:p>
        </p:txBody>
      </p:sp>
      <p:sp>
        <p:nvSpPr>
          <p:cNvPr id="337" name="book_id"/>
          <p:cNvSpPr/>
          <p:nvPr/>
        </p:nvSpPr>
        <p:spPr>
          <a:xfrm>
            <a:off x="5067829" y="5705958"/>
            <a:ext cx="3011469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book_id</a:t>
            </a:r>
          </a:p>
        </p:txBody>
      </p:sp>
      <p:sp>
        <p:nvSpPr>
          <p:cNvPr id="338" name="PRIMARY KEY"/>
          <p:cNvSpPr/>
          <p:nvPr/>
        </p:nvSpPr>
        <p:spPr>
          <a:xfrm>
            <a:off x="13309663" y="10122210"/>
            <a:ext cx="367834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rgbClr val="B46EC5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PRIMARY KEY</a:t>
            </a:r>
          </a:p>
        </p:txBody>
      </p:sp>
      <p:sp>
        <p:nvSpPr>
          <p:cNvPr id="339" name="author_id"/>
          <p:cNvSpPr/>
          <p:nvPr/>
        </p:nvSpPr>
        <p:spPr>
          <a:xfrm>
            <a:off x="5067829" y="7606442"/>
            <a:ext cx="3011469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author_id</a:t>
            </a:r>
          </a:p>
        </p:txBody>
      </p:sp>
      <p:grpSp>
        <p:nvGrpSpPr>
          <p:cNvPr id="343" name="Group"/>
          <p:cNvGrpSpPr/>
          <p:nvPr/>
        </p:nvGrpSpPr>
        <p:grpSpPr>
          <a:xfrm>
            <a:off x="5048193" y="9494226"/>
            <a:ext cx="7239574" cy="2000190"/>
            <a:chOff x="0" y="0"/>
            <a:chExt cx="7239573" cy="2000188"/>
          </a:xfrm>
        </p:grpSpPr>
        <p:sp>
          <p:nvSpPr>
            <p:cNvPr id="340" name="Rounded Rectangle"/>
            <p:cNvSpPr/>
            <p:nvPr/>
          </p:nvSpPr>
          <p:spPr>
            <a:xfrm>
              <a:off x="0" y="0"/>
              <a:ext cx="7239574" cy="2000189"/>
            </a:xfrm>
            <a:prstGeom prst="roundRect">
              <a:avLst>
                <a:gd name="adj" fmla="val 9524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  <p:sp>
          <p:nvSpPr>
            <p:cNvPr id="341" name="book_id"/>
            <p:cNvSpPr/>
            <p:nvPr/>
          </p:nvSpPr>
          <p:spPr>
            <a:xfrm>
              <a:off x="411346" y="352291"/>
              <a:ext cx="3011470" cy="1270001"/>
            </a:xfrm>
            <a:prstGeom prst="roundRect">
              <a:avLst>
                <a:gd name="adj" fmla="val 15000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book_id</a:t>
              </a:r>
            </a:p>
          </p:txBody>
        </p:sp>
        <p:sp>
          <p:nvSpPr>
            <p:cNvPr id="342" name="author_id"/>
            <p:cNvSpPr/>
            <p:nvPr/>
          </p:nvSpPr>
          <p:spPr>
            <a:xfrm>
              <a:off x="3842323" y="352291"/>
              <a:ext cx="3011470" cy="1270001"/>
            </a:xfrm>
            <a:prstGeom prst="roundRect">
              <a:avLst>
                <a:gd name="adj" fmla="val 15000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author_id</a:t>
              </a:r>
            </a:p>
          </p:txBody>
        </p:sp>
      </p:grpSp>
      <p:grpSp>
        <p:nvGrpSpPr>
          <p:cNvPr id="346" name="Group"/>
          <p:cNvGrpSpPr/>
          <p:nvPr/>
        </p:nvGrpSpPr>
        <p:grpSpPr>
          <a:xfrm>
            <a:off x="9275150" y="5968848"/>
            <a:ext cx="5116334" cy="744221"/>
            <a:chOff x="0" y="0"/>
            <a:chExt cx="5116333" cy="744220"/>
          </a:xfrm>
        </p:grpSpPr>
        <p:sp>
          <p:nvSpPr>
            <p:cNvPr id="344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345" name="FOREIGN KEY"/>
            <p:cNvSpPr/>
            <p:nvPr/>
          </p:nvSpPr>
          <p:spPr>
            <a:xfrm>
              <a:off x="1920684" y="0"/>
              <a:ext cx="3195650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FOREIGN KEY</a:t>
              </a:r>
            </a:p>
          </p:txBody>
        </p:sp>
      </p:grpSp>
      <p:grpSp>
        <p:nvGrpSpPr>
          <p:cNvPr id="349" name="Group"/>
          <p:cNvGrpSpPr/>
          <p:nvPr/>
        </p:nvGrpSpPr>
        <p:grpSpPr>
          <a:xfrm>
            <a:off x="9275150" y="7869332"/>
            <a:ext cx="5116334" cy="744221"/>
            <a:chOff x="0" y="0"/>
            <a:chExt cx="5116333" cy="744220"/>
          </a:xfrm>
        </p:grpSpPr>
        <p:sp>
          <p:nvSpPr>
            <p:cNvPr id="347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348" name="FOREIGN KEY"/>
            <p:cNvSpPr/>
            <p:nvPr/>
          </p:nvSpPr>
          <p:spPr>
            <a:xfrm>
              <a:off x="1920684" y="0"/>
              <a:ext cx="3195650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FOREIGN KEY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9" grpId="4"/>
      <p:bldP build="whole" bldLvl="1" animBg="1" rev="0" advAuto="0" spid="339" grpId="3"/>
      <p:bldP build="whole" bldLvl="1" animBg="1" rev="0" advAuto="0" spid="338" grpId="6"/>
      <p:bldP build="whole" bldLvl="1" animBg="1" rev="0" advAuto="0" spid="343" grpId="5"/>
      <p:bldP build="whole" bldLvl="1" animBg="1" rev="0" advAuto="0" spid="346" grpId="2"/>
      <p:bldP build="whole" bldLvl="1" animBg="1" rev="0" advAuto="0" spid="33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ounded Rectangle"/>
          <p:cNvSpPr/>
          <p:nvPr/>
        </p:nvSpPr>
        <p:spPr>
          <a:xfrm>
            <a:off x="3366520" y="4950802"/>
            <a:ext cx="18303175" cy="7298769"/>
          </a:xfrm>
          <a:prstGeom prst="roundRect">
            <a:avLst>
              <a:gd name="adj" fmla="val 2610"/>
            </a:avLst>
          </a:prstGeom>
          <a:ln w="25400">
            <a:solidFill>
              <a:srgbClr val="34A3C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52" name="Transaction Tables"/>
          <p:cNvSpPr txBox="1"/>
          <p:nvPr/>
        </p:nvSpPr>
        <p:spPr>
          <a:xfrm>
            <a:off x="673100" y="711199"/>
            <a:ext cx="412125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Transaction Tables</a:t>
            </a:r>
          </a:p>
        </p:txBody>
      </p:sp>
      <p:sp>
        <p:nvSpPr>
          <p:cNvPr id="353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4" name="borrowed_books"/>
          <p:cNvSpPr/>
          <p:nvPr/>
        </p:nvSpPr>
        <p:spPr>
          <a:xfrm>
            <a:off x="1700441" y="2672036"/>
            <a:ext cx="4573723" cy="1270001"/>
          </a:xfrm>
          <a:prstGeom prst="roundRect">
            <a:avLst>
              <a:gd name="adj" fmla="val 15000"/>
            </a:avLst>
          </a:prstGeom>
          <a:ln w="25400">
            <a:solidFill>
              <a:srgbClr val="34A3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borrowed_books</a:t>
            </a:r>
          </a:p>
        </p:txBody>
      </p:sp>
      <p:sp>
        <p:nvSpPr>
          <p:cNvPr id="355" name="Line"/>
          <p:cNvSpPr/>
          <p:nvPr/>
        </p:nvSpPr>
        <p:spPr>
          <a:xfrm flipH="1" flipV="1">
            <a:off x="6239657" y="3957284"/>
            <a:ext cx="1043521" cy="958214"/>
          </a:xfrm>
          <a:prstGeom prst="line">
            <a:avLst/>
          </a:prstGeom>
          <a:ln w="38100">
            <a:solidFill>
              <a:srgbClr val="34A3C5"/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6" name="Schema"/>
          <p:cNvSpPr txBox="1"/>
          <p:nvPr/>
        </p:nvSpPr>
        <p:spPr>
          <a:xfrm>
            <a:off x="7481567" y="4051581"/>
            <a:ext cx="204520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Schema</a:t>
            </a:r>
          </a:p>
        </p:txBody>
      </p:sp>
      <p:sp>
        <p:nvSpPr>
          <p:cNvPr id="357" name="Tracks which user has which book. It demonstrates Many-to-One relationship with users and books."/>
          <p:cNvSpPr txBox="1"/>
          <p:nvPr/>
        </p:nvSpPr>
        <p:spPr>
          <a:xfrm>
            <a:off x="7481567" y="2659336"/>
            <a:ext cx="11972469" cy="101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2700">
                <a:latin typeface="Graphik"/>
                <a:ea typeface="Graphik"/>
                <a:cs typeface="Graphik"/>
                <a:sym typeface="Graphik"/>
              </a:defRPr>
            </a:pPr>
            <a:r>
              <a:t>Tracks which user has which book. It demonstrates </a:t>
            </a:r>
            <a:r>
              <a:rPr>
                <a:solidFill>
                  <a:srgbClr val="C54A9C"/>
                </a:solidFill>
              </a:rPr>
              <a:t>Many-to-One</a:t>
            </a:r>
            <a:r>
              <a:t> relationship</a:t>
            </a:r>
            <a:br/>
            <a:r>
              <a:t>with </a:t>
            </a:r>
            <a:r>
              <a:rPr>
                <a:solidFill>
                  <a:srgbClr val="34A3C5"/>
                </a:solidFill>
              </a:rPr>
              <a:t>users</a:t>
            </a:r>
            <a:r>
              <a:t> and </a:t>
            </a:r>
            <a:r>
              <a:rPr>
                <a:solidFill>
                  <a:srgbClr val="34A3C5"/>
                </a:solidFill>
              </a:rPr>
              <a:t>books</a:t>
            </a:r>
            <a:r>
              <a:t>.</a:t>
            </a:r>
          </a:p>
        </p:txBody>
      </p:sp>
      <p:sp>
        <p:nvSpPr>
          <p:cNvPr id="358" name="user_id"/>
          <p:cNvSpPr/>
          <p:nvPr/>
        </p:nvSpPr>
        <p:spPr>
          <a:xfrm>
            <a:off x="5044239" y="7231592"/>
            <a:ext cx="3011470" cy="1003028"/>
          </a:xfrm>
          <a:prstGeom prst="roundRect">
            <a:avLst>
              <a:gd name="adj" fmla="val 18993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user_id</a:t>
            </a:r>
          </a:p>
        </p:txBody>
      </p:sp>
      <p:grpSp>
        <p:nvGrpSpPr>
          <p:cNvPr id="361" name="Group"/>
          <p:cNvGrpSpPr/>
          <p:nvPr/>
        </p:nvGrpSpPr>
        <p:grpSpPr>
          <a:xfrm>
            <a:off x="9251560" y="7360996"/>
            <a:ext cx="5051050" cy="744221"/>
            <a:chOff x="0" y="0"/>
            <a:chExt cx="5051048" cy="744220"/>
          </a:xfrm>
        </p:grpSpPr>
        <p:sp>
          <p:nvSpPr>
            <p:cNvPr id="359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360" name="FOREIGN KEY"/>
            <p:cNvSpPr/>
            <p:nvPr/>
          </p:nvSpPr>
          <p:spPr>
            <a:xfrm>
              <a:off x="1855399" y="0"/>
              <a:ext cx="3195650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FOREIGN KEY</a:t>
              </a:r>
            </a:p>
          </p:txBody>
        </p:sp>
      </p:grpSp>
      <p:sp>
        <p:nvSpPr>
          <p:cNvPr id="362" name="borrow_id"/>
          <p:cNvSpPr/>
          <p:nvPr/>
        </p:nvSpPr>
        <p:spPr>
          <a:xfrm>
            <a:off x="5044239" y="5497431"/>
            <a:ext cx="3011470" cy="1003028"/>
          </a:xfrm>
          <a:prstGeom prst="roundRect">
            <a:avLst>
              <a:gd name="adj" fmla="val 18993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borrow_id</a:t>
            </a:r>
          </a:p>
        </p:txBody>
      </p:sp>
      <p:grpSp>
        <p:nvGrpSpPr>
          <p:cNvPr id="366" name="Group"/>
          <p:cNvGrpSpPr/>
          <p:nvPr/>
        </p:nvGrpSpPr>
        <p:grpSpPr>
          <a:xfrm>
            <a:off x="9229782" y="5626834"/>
            <a:ext cx="10084579" cy="744221"/>
            <a:chOff x="0" y="0"/>
            <a:chExt cx="10084577" cy="744220"/>
          </a:xfrm>
        </p:grpSpPr>
        <p:sp>
          <p:nvSpPr>
            <p:cNvPr id="363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364" name="PRIMARY KEY"/>
            <p:cNvSpPr/>
            <p:nvPr/>
          </p:nvSpPr>
          <p:spPr>
            <a:xfrm>
              <a:off x="1814818" y="0"/>
              <a:ext cx="3678347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PRIMARY KEY</a:t>
              </a:r>
            </a:p>
          </p:txBody>
        </p:sp>
        <p:sp>
          <p:nvSpPr>
            <p:cNvPr id="365" name="AUTO INCREMENT"/>
            <p:cNvSpPr/>
            <p:nvPr/>
          </p:nvSpPr>
          <p:spPr>
            <a:xfrm>
              <a:off x="5849204" y="0"/>
              <a:ext cx="4235374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AUTO INCREMENT</a:t>
              </a:r>
            </a:p>
          </p:txBody>
        </p:sp>
      </p:grpSp>
      <p:sp>
        <p:nvSpPr>
          <p:cNvPr id="367" name="book_id"/>
          <p:cNvSpPr/>
          <p:nvPr/>
        </p:nvSpPr>
        <p:spPr>
          <a:xfrm>
            <a:off x="5044239" y="8965753"/>
            <a:ext cx="3011470" cy="1003028"/>
          </a:xfrm>
          <a:prstGeom prst="roundRect">
            <a:avLst>
              <a:gd name="adj" fmla="val 18993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book_id</a:t>
            </a:r>
          </a:p>
        </p:txBody>
      </p:sp>
      <p:grpSp>
        <p:nvGrpSpPr>
          <p:cNvPr id="370" name="Group"/>
          <p:cNvGrpSpPr/>
          <p:nvPr/>
        </p:nvGrpSpPr>
        <p:grpSpPr>
          <a:xfrm>
            <a:off x="9251560" y="9095157"/>
            <a:ext cx="5051050" cy="744221"/>
            <a:chOff x="0" y="0"/>
            <a:chExt cx="5051048" cy="744220"/>
          </a:xfrm>
        </p:grpSpPr>
        <p:sp>
          <p:nvSpPr>
            <p:cNvPr id="368" name="INT"/>
            <p:cNvSpPr/>
            <p:nvPr/>
          </p:nvSpPr>
          <p:spPr>
            <a:xfrm>
              <a:off x="0" y="0"/>
              <a:ext cx="1458779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INT</a:t>
              </a:r>
            </a:p>
          </p:txBody>
        </p:sp>
        <p:sp>
          <p:nvSpPr>
            <p:cNvPr id="369" name="FOREIGN KEY"/>
            <p:cNvSpPr/>
            <p:nvPr/>
          </p:nvSpPr>
          <p:spPr>
            <a:xfrm>
              <a:off x="1855399" y="0"/>
              <a:ext cx="3195650" cy="744221"/>
            </a:xfrm>
            <a:prstGeom prst="roundRect">
              <a:avLst>
                <a:gd name="adj" fmla="val 25597"/>
              </a:avLst>
            </a:prstGeom>
            <a:noFill/>
            <a:ln w="25400" cap="flat">
              <a:solidFill>
                <a:srgbClr val="B46E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solidFill>
                    <a:srgbClr val="B46EC5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FOREIGN KEY</a:t>
              </a:r>
            </a:p>
          </p:txBody>
        </p:sp>
      </p:grpSp>
      <p:sp>
        <p:nvSpPr>
          <p:cNvPr id="371" name="borrow_date"/>
          <p:cNvSpPr/>
          <p:nvPr/>
        </p:nvSpPr>
        <p:spPr>
          <a:xfrm>
            <a:off x="5044239" y="10699915"/>
            <a:ext cx="3011470" cy="1003027"/>
          </a:xfrm>
          <a:prstGeom prst="roundRect">
            <a:avLst>
              <a:gd name="adj" fmla="val 18993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borrow_date</a:t>
            </a:r>
          </a:p>
        </p:txBody>
      </p:sp>
      <p:sp>
        <p:nvSpPr>
          <p:cNvPr id="372" name="DATE"/>
          <p:cNvSpPr/>
          <p:nvPr/>
        </p:nvSpPr>
        <p:spPr>
          <a:xfrm>
            <a:off x="9180818" y="10829318"/>
            <a:ext cx="2019809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rgbClr val="B46EC5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DATE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2" grpId="1"/>
      <p:bldP build="whole" bldLvl="1" animBg="1" rev="0" advAuto="0" spid="366" grpId="2"/>
      <p:bldP build="whole" bldLvl="1" animBg="1" rev="0" advAuto="0" spid="367" grpId="5"/>
      <p:bldP build="whole" bldLvl="1" animBg="1" rev="0" advAuto="0" spid="358" grpId="3"/>
      <p:bldP build="whole" bldLvl="1" animBg="1" rev="0" advAuto="0" spid="372" grpId="8"/>
      <p:bldP build="whole" bldLvl="1" animBg="1" rev="0" advAuto="0" spid="361" grpId="4"/>
      <p:bldP build="whole" bldLvl="1" animBg="1" rev="0" advAuto="0" spid="371" grpId="7"/>
      <p:bldP build="whole" bldLvl="1" animBg="1" rev="0" advAuto="0" spid="370" grpId="6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Let’s Create in MySQL"/>
          <p:cNvSpPr txBox="1"/>
          <p:nvPr/>
        </p:nvSpPr>
        <p:spPr>
          <a:xfrm>
            <a:off x="7454701" y="6203950"/>
            <a:ext cx="9474598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8000"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Let’s Create in</a:t>
            </a:r>
            <a:r>
              <a:t> My</a:t>
            </a: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SQL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Maven"/>
          <p:cNvSpPr txBox="1"/>
          <p:nvPr/>
        </p:nvSpPr>
        <p:spPr>
          <a:xfrm>
            <a:off x="10701883" y="6203950"/>
            <a:ext cx="2980234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8000"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Ma</a:t>
            </a: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v</a:t>
            </a: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en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wipe dir="r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Maven"/>
          <p:cNvSpPr txBox="1"/>
          <p:nvPr/>
        </p:nvSpPr>
        <p:spPr>
          <a:xfrm>
            <a:off x="12337782" y="6273799"/>
            <a:ext cx="2630675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7000"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Ma</a:t>
            </a: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v</a:t>
            </a: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en</a:t>
            </a:r>
          </a:p>
        </p:txBody>
      </p:sp>
      <p:sp>
        <p:nvSpPr>
          <p:cNvPr id="379" name="WHAT IS"/>
          <p:cNvSpPr txBox="1"/>
          <p:nvPr/>
        </p:nvSpPr>
        <p:spPr>
          <a:xfrm>
            <a:off x="8545249" y="6273799"/>
            <a:ext cx="3473228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WHAT IS</a:t>
            </a:r>
          </a:p>
        </p:txBody>
      </p:sp>
      <p:sp>
        <p:nvSpPr>
          <p:cNvPr id="380" name="?"/>
          <p:cNvSpPr txBox="1"/>
          <p:nvPr/>
        </p:nvSpPr>
        <p:spPr>
          <a:xfrm>
            <a:off x="15287763" y="6273799"/>
            <a:ext cx="550988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?</a:t>
            </a:r>
          </a:p>
        </p:txBody>
      </p:sp>
      <p:sp>
        <p:nvSpPr>
          <p:cNvPr id="381" name="Build Automation and Dependency Management Tool"/>
          <p:cNvSpPr txBox="1"/>
          <p:nvPr/>
        </p:nvSpPr>
        <p:spPr>
          <a:xfrm>
            <a:off x="4995750" y="7920691"/>
            <a:ext cx="1439250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>
              <a:defRPr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Build Automation and Dependency Management Tool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80" grpId="2"/>
      <p:bldP build="whole" bldLvl="1" animBg="1" rev="0" advAuto="0" spid="379" grpId="1"/>
      <p:bldP build="whole" bldLvl="1" animBg="1" rev="0" advAuto="0" spid="381" grpId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roup"/>
          <p:cNvGrpSpPr/>
          <p:nvPr/>
        </p:nvGrpSpPr>
        <p:grpSpPr>
          <a:xfrm>
            <a:off x="6023638" y="5293442"/>
            <a:ext cx="14172016" cy="6118099"/>
            <a:chOff x="0" y="0"/>
            <a:chExt cx="14172015" cy="6118097"/>
          </a:xfrm>
        </p:grpSpPr>
        <p:sp>
          <p:nvSpPr>
            <p:cNvPr id="383" name="Tells Maven"/>
            <p:cNvSpPr txBox="1"/>
            <p:nvPr/>
          </p:nvSpPr>
          <p:spPr>
            <a:xfrm>
              <a:off x="5768283" y="0"/>
              <a:ext cx="2575363" cy="71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/>
              <a:r>
                <a:t>Tells Maven</a:t>
              </a:r>
            </a:p>
          </p:txBody>
        </p:sp>
        <p:sp>
          <p:nvSpPr>
            <p:cNvPr id="384" name="Rounded Rectangle"/>
            <p:cNvSpPr/>
            <p:nvPr/>
          </p:nvSpPr>
          <p:spPr>
            <a:xfrm>
              <a:off x="0" y="980845"/>
              <a:ext cx="14172016" cy="5137253"/>
            </a:xfrm>
            <a:prstGeom prst="roundRect">
              <a:avLst>
                <a:gd name="adj" fmla="val 3708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</p:grpSp>
      <p:sp>
        <p:nvSpPr>
          <p:cNvPr id="386" name="The pom.xml File"/>
          <p:cNvSpPr txBox="1"/>
          <p:nvPr/>
        </p:nvSpPr>
        <p:spPr>
          <a:xfrm>
            <a:off x="673100" y="711199"/>
            <a:ext cx="377944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The </a:t>
            </a:r>
            <a:r>
              <a:t>pom.xml </a:t>
            </a: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File</a:t>
            </a:r>
          </a:p>
        </p:txBody>
      </p:sp>
      <p:sp>
        <p:nvSpPr>
          <p:cNvPr id="387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8" name="Stands for Project Object Model"/>
          <p:cNvSpPr/>
          <p:nvPr/>
        </p:nvSpPr>
        <p:spPr>
          <a:xfrm>
            <a:off x="9905139" y="2606751"/>
            <a:ext cx="6409014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Stands for </a:t>
            </a:r>
            <a:r>
              <a:rPr>
                <a:solidFill>
                  <a:srgbClr val="34A3C5"/>
                </a:solidFill>
              </a:rPr>
              <a:t>Project Object Model</a:t>
            </a:r>
          </a:p>
        </p:txBody>
      </p:sp>
      <p:grpSp>
        <p:nvGrpSpPr>
          <p:cNvPr id="391" name="Group"/>
          <p:cNvGrpSpPr/>
          <p:nvPr/>
        </p:nvGrpSpPr>
        <p:grpSpPr>
          <a:xfrm>
            <a:off x="6827682" y="7237420"/>
            <a:ext cx="2079984" cy="1509607"/>
            <a:chOff x="12352" y="145203"/>
            <a:chExt cx="2079982" cy="1509606"/>
          </a:xfrm>
        </p:grpSpPr>
        <p:sp>
          <p:nvSpPr>
            <p:cNvPr id="389" name="What the project is named (ArtifactId)."/>
            <p:cNvSpPr/>
            <p:nvPr/>
          </p:nvSpPr>
          <p:spPr>
            <a:xfrm>
              <a:off x="822334" y="3848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t>What the project is named (</a:t>
              </a:r>
              <a:r>
                <a:rPr i="1">
                  <a:solidFill>
                    <a:srgbClr val="34A3C5"/>
                  </a:solidFill>
                  <a:latin typeface="Graphik"/>
                  <a:ea typeface="Graphik"/>
                  <a:cs typeface="Graphik"/>
                  <a:sym typeface="Graphik"/>
                </a:rPr>
                <a:t>ArtifactId</a:t>
              </a:r>
              <a:r>
                <a:t>). </a:t>
              </a:r>
            </a:p>
          </p:txBody>
        </p:sp>
        <p:sp>
          <p:nvSpPr>
            <p:cNvPr id="390" name="Star"/>
            <p:cNvSpPr/>
            <p:nvPr/>
          </p:nvSpPr>
          <p:spPr>
            <a:xfrm>
              <a:off x="12352" y="145203"/>
              <a:ext cx="480045" cy="47921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</p:grpSp>
      <p:grpSp>
        <p:nvGrpSpPr>
          <p:cNvPr id="394" name="Group"/>
          <p:cNvGrpSpPr/>
          <p:nvPr/>
        </p:nvGrpSpPr>
        <p:grpSpPr>
          <a:xfrm>
            <a:off x="6827682" y="8603307"/>
            <a:ext cx="2079984" cy="1509608"/>
            <a:chOff x="12352" y="145203"/>
            <a:chExt cx="2079982" cy="1509606"/>
          </a:xfrm>
        </p:grpSpPr>
        <p:sp>
          <p:nvSpPr>
            <p:cNvPr id="392" name="Which version of Java we are using."/>
            <p:cNvSpPr/>
            <p:nvPr/>
          </p:nvSpPr>
          <p:spPr>
            <a:xfrm>
              <a:off x="822334" y="38481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Which version of Java we are using.</a:t>
              </a:r>
            </a:p>
          </p:txBody>
        </p:sp>
        <p:sp>
          <p:nvSpPr>
            <p:cNvPr id="393" name="Star"/>
            <p:cNvSpPr/>
            <p:nvPr/>
          </p:nvSpPr>
          <p:spPr>
            <a:xfrm>
              <a:off x="12352" y="145203"/>
              <a:ext cx="480045" cy="47921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</p:grpSp>
      <p:grpSp>
        <p:nvGrpSpPr>
          <p:cNvPr id="397" name="Group"/>
          <p:cNvGrpSpPr/>
          <p:nvPr/>
        </p:nvGrpSpPr>
        <p:grpSpPr>
          <a:xfrm>
            <a:off x="6827682" y="9823992"/>
            <a:ext cx="12576280" cy="769621"/>
            <a:chOff x="12352" y="0"/>
            <a:chExt cx="12576278" cy="769619"/>
          </a:xfrm>
        </p:grpSpPr>
        <p:sp>
          <p:nvSpPr>
            <p:cNvPr id="395" name="Every external library that the project needs to run."/>
            <p:cNvSpPr txBox="1"/>
            <p:nvPr/>
          </p:nvSpPr>
          <p:spPr>
            <a:xfrm>
              <a:off x="822334" y="0"/>
              <a:ext cx="11766297" cy="769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Every external library that the project needs to run.</a:t>
              </a:r>
            </a:p>
          </p:txBody>
        </p:sp>
        <p:sp>
          <p:nvSpPr>
            <p:cNvPr id="396" name="Star"/>
            <p:cNvSpPr/>
            <p:nvPr/>
          </p:nvSpPr>
          <p:spPr>
            <a:xfrm>
              <a:off x="12352" y="145203"/>
              <a:ext cx="480045" cy="47921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97" grpId="5"/>
      <p:bldP build="whole" bldLvl="1" animBg="1" rev="0" advAuto="0" spid="388" grpId="1"/>
      <p:bldP build="whole" bldLvl="1" animBg="1" rev="0" advAuto="0" spid="394" grpId="4"/>
      <p:bldP build="whole" bldLvl="1" animBg="1" rev="0" advAuto="0" spid="385" grpId="2"/>
      <p:bldP build="whole" bldLvl="1" animBg="1" rev="0" advAuto="0" spid="391" grpId="3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roup"/>
          <p:cNvGrpSpPr/>
          <p:nvPr/>
        </p:nvGrpSpPr>
        <p:grpSpPr>
          <a:xfrm>
            <a:off x="6523533" y="5312266"/>
            <a:ext cx="11336934" cy="3091468"/>
            <a:chOff x="0" y="0"/>
            <a:chExt cx="11336932" cy="3091467"/>
          </a:xfrm>
        </p:grpSpPr>
        <p:sp>
          <p:nvSpPr>
            <p:cNvPr id="399" name="Let’s Create Maven Project"/>
            <p:cNvSpPr txBox="1"/>
            <p:nvPr/>
          </p:nvSpPr>
          <p:spPr>
            <a:xfrm>
              <a:off x="0" y="0"/>
              <a:ext cx="11336933" cy="1308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8000">
                  <a:solidFill>
                    <a:srgbClr val="34A3C5"/>
                  </a:solidFill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Let’s Create Ma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v</a:t>
              </a: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en Project</a:t>
              </a:r>
            </a:p>
          </p:txBody>
        </p:sp>
        <p:sp>
          <p:nvSpPr>
            <p:cNvPr id="400" name="Project LibraryJDBCManager"/>
            <p:cNvSpPr/>
            <p:nvPr/>
          </p:nvSpPr>
          <p:spPr>
            <a:xfrm>
              <a:off x="2614505" y="1821467"/>
              <a:ext cx="6409014" cy="1270001"/>
            </a:xfrm>
            <a:prstGeom prst="roundRect">
              <a:avLst>
                <a:gd name="adj" fmla="val 15000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t>Project </a:t>
              </a:r>
              <a:r>
                <a:rPr>
                  <a:solidFill>
                    <a:srgbClr val="34A3C5"/>
                  </a:solidFill>
                </a:rPr>
                <a:t>LibraryJDBCManager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roup"/>
          <p:cNvSpPr/>
          <p:nvPr/>
        </p:nvSpPr>
        <p:spPr>
          <a:xfrm>
            <a:off x="5355480" y="6857999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8000">
                <a:solidFill>
                  <a:srgbClr val="34A3C5"/>
                </a:solidFill>
              </a:defRPr>
            </a:pPr>
            <a:r>
              <a:t>My</a:t>
            </a: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SQL</a:t>
            </a: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 Connector Dependency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roup"/>
          <p:cNvGrpSpPr/>
          <p:nvPr/>
        </p:nvGrpSpPr>
        <p:grpSpPr>
          <a:xfrm>
            <a:off x="7324134" y="6560077"/>
            <a:ext cx="2007586" cy="2242211"/>
            <a:chOff x="0" y="654049"/>
            <a:chExt cx="2007585" cy="2242210"/>
          </a:xfrm>
        </p:grpSpPr>
        <p:sp>
          <p:nvSpPr>
            <p:cNvPr id="405" name="Connection Class"/>
            <p:cNvSpPr/>
            <p:nvPr/>
          </p:nvSpPr>
          <p:spPr>
            <a:xfrm>
              <a:off x="737585" y="65404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8000">
                  <a:solidFill>
                    <a:srgbClr val="34A3C5"/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Connection </a:t>
              </a:r>
              <a:r>
                <a:t>Class</a:t>
              </a:r>
            </a:p>
          </p:txBody>
        </p:sp>
        <p:sp>
          <p:nvSpPr>
            <p:cNvPr id="406" name="Serve as a centralised hub for connecting to MySQL Database"/>
            <p:cNvSpPr/>
            <p:nvPr/>
          </p:nvSpPr>
          <p:spPr>
            <a:xfrm>
              <a:off x="0" y="1626260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i="1" sz="27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Serve as a centralised hub for connecting to </a:t>
              </a:r>
              <a:r>
                <a:rPr>
                  <a:solidFill>
                    <a:srgbClr val="34A3C5"/>
                  </a:solidFill>
                </a:rPr>
                <a:t>My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SQL</a:t>
              </a:r>
              <a:r>
                <a:t> Database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ounded Rectangle"/>
          <p:cNvSpPr/>
          <p:nvPr/>
        </p:nvSpPr>
        <p:spPr>
          <a:xfrm>
            <a:off x="3366520" y="4950802"/>
            <a:ext cx="18303175" cy="7298769"/>
          </a:xfrm>
          <a:prstGeom prst="roundRect">
            <a:avLst>
              <a:gd name="adj" fmla="val 261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410" name="Connection Class"/>
          <p:cNvSpPr txBox="1"/>
          <p:nvPr/>
        </p:nvSpPr>
        <p:spPr>
          <a:xfrm>
            <a:off x="673100" y="711199"/>
            <a:ext cx="39369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Connection Class</a:t>
            </a:r>
          </a:p>
        </p:txBody>
      </p:sp>
      <p:sp>
        <p:nvSpPr>
          <p:cNvPr id="411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2" name="Connection Properties"/>
          <p:cNvSpPr/>
          <p:nvPr/>
        </p:nvSpPr>
        <p:spPr>
          <a:xfrm>
            <a:off x="1700441" y="2672036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Connection Properties</a:t>
            </a:r>
          </a:p>
        </p:txBody>
      </p:sp>
      <p:sp>
        <p:nvSpPr>
          <p:cNvPr id="413" name="Line"/>
          <p:cNvSpPr/>
          <p:nvPr/>
        </p:nvSpPr>
        <p:spPr>
          <a:xfrm flipH="1" flipV="1">
            <a:off x="5717375" y="3957284"/>
            <a:ext cx="1043522" cy="958214"/>
          </a:xfrm>
          <a:prstGeom prst="line">
            <a:avLst/>
          </a:prstGeom>
          <a:ln w="381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416" name="Group"/>
          <p:cNvGrpSpPr/>
          <p:nvPr/>
        </p:nvGrpSpPr>
        <p:grpSpPr>
          <a:xfrm>
            <a:off x="4985596" y="5720770"/>
            <a:ext cx="15065023" cy="1012572"/>
            <a:chOff x="0" y="0"/>
            <a:chExt cx="15065021" cy="1012570"/>
          </a:xfrm>
        </p:grpSpPr>
        <p:sp>
          <p:nvSpPr>
            <p:cNvPr id="414" name="URL"/>
            <p:cNvSpPr/>
            <p:nvPr/>
          </p:nvSpPr>
          <p:spPr>
            <a:xfrm>
              <a:off x="0" y="56292"/>
              <a:ext cx="1772964" cy="899987"/>
            </a:xfrm>
            <a:prstGeom prst="roundRect">
              <a:avLst>
                <a:gd name="adj" fmla="val 2116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URL</a:t>
              </a:r>
            </a:p>
          </p:txBody>
        </p:sp>
        <p:sp>
          <p:nvSpPr>
            <p:cNvPr id="415" name="The address of your database. For local MySQL, it usually starts with jdbc:mysql://localhost:3306"/>
            <p:cNvSpPr txBox="1"/>
            <p:nvPr/>
          </p:nvSpPr>
          <p:spPr>
            <a:xfrm>
              <a:off x="4439464" y="-1"/>
              <a:ext cx="10625558" cy="10125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i="1" sz="27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The address of your database. For local MySQL, it usually starts with</a:t>
              </a:r>
              <a:br/>
              <a:r>
                <a:rPr>
                  <a:solidFill>
                    <a:srgbClr val="34A3C5"/>
                  </a:solidFill>
                </a:rPr>
                <a:t>jdbc:</a:t>
              </a:r>
              <a:r>
                <a:rPr u="sng">
                  <a:solidFill>
                    <a:srgbClr val="34A3C5"/>
                  </a:solidFill>
                  <a:hlinkClick r:id="rId2" invalidUrl="" action="" tgtFrame="" tooltip="" history="1" highlightClick="0" endSnd="0"/>
                </a:rPr>
                <a:t>mysql://localhost:3306</a:t>
              </a:r>
            </a:p>
          </p:txBody>
        </p:sp>
      </p:grpSp>
      <p:grpSp>
        <p:nvGrpSpPr>
          <p:cNvPr id="419" name="Group"/>
          <p:cNvGrpSpPr/>
          <p:nvPr/>
        </p:nvGrpSpPr>
        <p:grpSpPr>
          <a:xfrm>
            <a:off x="4985596" y="7320764"/>
            <a:ext cx="8752919" cy="1014287"/>
            <a:chOff x="0" y="0"/>
            <a:chExt cx="8752918" cy="1014285"/>
          </a:xfrm>
        </p:grpSpPr>
        <p:sp>
          <p:nvSpPr>
            <p:cNvPr id="417" name="Database Name"/>
            <p:cNvSpPr/>
            <p:nvPr/>
          </p:nvSpPr>
          <p:spPr>
            <a:xfrm>
              <a:off x="0" y="0"/>
              <a:ext cx="3782713" cy="1014286"/>
            </a:xfrm>
            <a:prstGeom prst="roundRect">
              <a:avLst>
                <a:gd name="adj" fmla="val 18782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Database Name</a:t>
              </a:r>
            </a:p>
          </p:txBody>
        </p:sp>
        <p:sp>
          <p:nvSpPr>
            <p:cNvPr id="418" name="In our case, library_jdbc_db"/>
            <p:cNvSpPr txBox="1"/>
            <p:nvPr/>
          </p:nvSpPr>
          <p:spPr>
            <a:xfrm>
              <a:off x="4439464" y="229457"/>
              <a:ext cx="4313455" cy="5553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i="1" sz="27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In our case, </a:t>
              </a:r>
              <a:r>
                <a:rPr>
                  <a:solidFill>
                    <a:srgbClr val="34A3C5"/>
                  </a:solidFill>
                </a:rPr>
                <a:t>library_jdbc_db</a:t>
              </a:r>
            </a:p>
          </p:txBody>
        </p:sp>
      </p:grpSp>
      <p:grpSp>
        <p:nvGrpSpPr>
          <p:cNvPr id="422" name="Group"/>
          <p:cNvGrpSpPr/>
          <p:nvPr/>
        </p:nvGrpSpPr>
        <p:grpSpPr>
          <a:xfrm>
            <a:off x="4985596" y="8978765"/>
            <a:ext cx="9642744" cy="899987"/>
            <a:chOff x="0" y="0"/>
            <a:chExt cx="9642743" cy="899985"/>
          </a:xfrm>
        </p:grpSpPr>
        <p:sp>
          <p:nvSpPr>
            <p:cNvPr id="420" name="Username"/>
            <p:cNvSpPr/>
            <p:nvPr/>
          </p:nvSpPr>
          <p:spPr>
            <a:xfrm>
              <a:off x="0" y="0"/>
              <a:ext cx="2642646" cy="899986"/>
            </a:xfrm>
            <a:prstGeom prst="roundRect">
              <a:avLst>
                <a:gd name="adj" fmla="val 2116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Username</a:t>
              </a:r>
            </a:p>
          </p:txBody>
        </p:sp>
        <p:sp>
          <p:nvSpPr>
            <p:cNvPr id="421" name="Usually root for local installations"/>
            <p:cNvSpPr txBox="1"/>
            <p:nvPr/>
          </p:nvSpPr>
          <p:spPr>
            <a:xfrm>
              <a:off x="4439464" y="172307"/>
              <a:ext cx="5203280" cy="5553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i="1" sz="27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Usually </a:t>
              </a:r>
              <a:r>
                <a:rPr>
                  <a:solidFill>
                    <a:srgbClr val="34A3C5"/>
                  </a:solidFill>
                </a:rPr>
                <a:t>root</a:t>
              </a:r>
              <a:r>
                <a:t> for local installations</a:t>
              </a:r>
            </a:p>
          </p:txBody>
        </p:sp>
      </p:grpSp>
      <p:grpSp>
        <p:nvGrpSpPr>
          <p:cNvPr id="425" name="Group"/>
          <p:cNvGrpSpPr/>
          <p:nvPr/>
        </p:nvGrpSpPr>
        <p:grpSpPr>
          <a:xfrm>
            <a:off x="4985596" y="10579616"/>
            <a:ext cx="12461726" cy="899987"/>
            <a:chOff x="0" y="0"/>
            <a:chExt cx="12461724" cy="899985"/>
          </a:xfrm>
        </p:grpSpPr>
        <p:sp>
          <p:nvSpPr>
            <p:cNvPr id="423" name="Password"/>
            <p:cNvSpPr/>
            <p:nvPr/>
          </p:nvSpPr>
          <p:spPr>
            <a:xfrm>
              <a:off x="0" y="0"/>
              <a:ext cx="2642646" cy="899986"/>
            </a:xfrm>
            <a:prstGeom prst="roundRect">
              <a:avLst>
                <a:gd name="adj" fmla="val 2116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Password</a:t>
              </a:r>
            </a:p>
          </p:txBody>
        </p:sp>
        <p:sp>
          <p:nvSpPr>
            <p:cNvPr id="424" name="The password you set up during MySQL installation"/>
            <p:cNvSpPr txBox="1"/>
            <p:nvPr/>
          </p:nvSpPr>
          <p:spPr>
            <a:xfrm>
              <a:off x="4439464" y="172307"/>
              <a:ext cx="8022261" cy="5553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2700">
                  <a:latin typeface="Graphik"/>
                  <a:ea typeface="Graphik"/>
                  <a:cs typeface="Graphik"/>
                  <a:sym typeface="Graphik"/>
                </a:defRPr>
              </a:lvl1pPr>
            </a:lstStyle>
            <a:p>
              <a:pPr/>
              <a:r>
                <a:t>The password you set up during MySQL installation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25" grpId="4"/>
      <p:bldP build="whole" bldLvl="1" animBg="1" rev="0" advAuto="0" spid="422" grpId="3"/>
      <p:bldP build="whole" bldLvl="1" animBg="1" rev="0" advAuto="0" spid="419" grpId="2"/>
      <p:bldP build="whole" bldLvl="1" animBg="1" rev="0" advAuto="0" spid="41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Let’s Create Connection Class"/>
          <p:cNvSpPr txBox="1"/>
          <p:nvPr/>
        </p:nvSpPr>
        <p:spPr>
          <a:xfrm>
            <a:off x="5792539" y="6203950"/>
            <a:ext cx="12798922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8000"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Let’s Create </a:t>
            </a: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Connection </a:t>
            </a:r>
            <a:r>
              <a:t>Class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roup"/>
          <p:cNvGrpSpPr/>
          <p:nvPr/>
        </p:nvGrpSpPr>
        <p:grpSpPr>
          <a:xfrm>
            <a:off x="4964105" y="5221858"/>
            <a:ext cx="14455790" cy="3272284"/>
            <a:chOff x="0" y="0"/>
            <a:chExt cx="14455788" cy="3272283"/>
          </a:xfrm>
        </p:grpSpPr>
        <p:sp>
          <p:nvSpPr>
            <p:cNvPr id="429" name="In Java apps, we don’t put SQL queries inside our Connection class. Instead, we use DAO (Data Access Object). This is a class dedicated to a specific table."/>
            <p:cNvSpPr/>
            <p:nvPr/>
          </p:nvSpPr>
          <p:spPr>
            <a:xfrm>
              <a:off x="0" y="1620646"/>
              <a:ext cx="14455789" cy="1651638"/>
            </a:xfrm>
            <a:prstGeom prst="roundRect">
              <a:avLst>
                <a:gd name="adj" fmla="val 11534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i="1" sz="27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In Java apps, we don’t put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SQL</a:t>
              </a:r>
              <a:r>
                <a:t> queries inside our Connection class.</a:t>
              </a:r>
              <a:br/>
              <a:r>
                <a:t>Instead, we use </a:t>
              </a:r>
              <a:r>
                <a:rPr>
                  <a:solidFill>
                    <a:srgbClr val="34A3C5"/>
                  </a:solidFill>
                </a:rPr>
                <a:t>DAO (Data Access Object)</a:t>
              </a:r>
              <a:r>
                <a:t>. This is a class dedicated to a specific table.</a:t>
              </a:r>
            </a:p>
          </p:txBody>
        </p:sp>
        <p:sp>
          <p:nvSpPr>
            <p:cNvPr id="430" name="The DAO Design Pattern"/>
            <p:cNvSpPr txBox="1"/>
            <p:nvPr/>
          </p:nvSpPr>
          <p:spPr>
            <a:xfrm>
              <a:off x="2008144" y="0"/>
              <a:ext cx="10439500" cy="1308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8000"/>
              </a:pPr>
              <a:r>
                <a:t>The </a:t>
              </a:r>
              <a:r>
                <a:rPr>
                  <a:solidFill>
                    <a:srgbClr val="34A3C5"/>
                  </a:solidFill>
                </a:rPr>
                <a:t>DAO</a:t>
              </a:r>
              <a:r>
                <a:t> Design Pattern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roup"/>
          <p:cNvGrpSpPr/>
          <p:nvPr/>
        </p:nvGrpSpPr>
        <p:grpSpPr>
          <a:xfrm>
            <a:off x="4871462" y="4997211"/>
            <a:ext cx="14641076" cy="3721578"/>
            <a:chOff x="0" y="0"/>
            <a:chExt cx="14641074" cy="3721577"/>
          </a:xfrm>
        </p:grpSpPr>
        <p:sp>
          <p:nvSpPr>
            <p:cNvPr id="433" name="In Java, what do we call a simple class that just holds data (like bookId, title and isbn) with getters and setters, and why do you think we need one before we can display our database rows"/>
            <p:cNvSpPr/>
            <p:nvPr/>
          </p:nvSpPr>
          <p:spPr>
            <a:xfrm>
              <a:off x="185285" y="1444885"/>
              <a:ext cx="14455790" cy="2276693"/>
            </a:xfrm>
            <a:prstGeom prst="roundRect">
              <a:avLst>
                <a:gd name="adj" fmla="val 8367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2700"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t>In Java, what do we call a simple class that just holds data (like </a:t>
              </a:r>
              <a:r>
                <a:rPr>
                  <a:latin typeface="Graphik Semibold"/>
                  <a:ea typeface="Graphik Semibold"/>
                  <a:cs typeface="Graphik Semibold"/>
                  <a:sym typeface="Graphik Semibold"/>
                </a:rPr>
                <a:t>bookId</a:t>
              </a:r>
              <a:r>
                <a:t>, </a:t>
              </a:r>
              <a:r>
                <a:rPr>
                  <a:latin typeface="Graphik Semibold"/>
                  <a:ea typeface="Graphik Semibold"/>
                  <a:cs typeface="Graphik Semibold"/>
                  <a:sym typeface="Graphik Semibold"/>
                </a:rPr>
                <a:t>title</a:t>
              </a:r>
              <a:r>
                <a:t> and </a:t>
              </a:r>
              <a:r>
                <a:rPr>
                  <a:latin typeface="Graphik Semibold"/>
                  <a:ea typeface="Graphik Semibold"/>
                  <a:cs typeface="Graphik Semibold"/>
                  <a:sym typeface="Graphik Semibold"/>
                </a:rPr>
                <a:t>isbn</a:t>
              </a:r>
              <a:r>
                <a:t>)</a:t>
              </a:r>
              <a:br/>
              <a:r>
                <a:t>with getters and setters, and why do you think we need one</a:t>
              </a:r>
              <a:br/>
              <a:r>
                <a:t>before we can display our database rows</a:t>
              </a:r>
            </a:p>
          </p:txBody>
        </p:sp>
        <p:sp>
          <p:nvSpPr>
            <p:cNvPr id="434" name="Question"/>
            <p:cNvSpPr txBox="1"/>
            <p:nvPr/>
          </p:nvSpPr>
          <p:spPr>
            <a:xfrm>
              <a:off x="1015489" y="470843"/>
              <a:ext cx="2523197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5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Question</a:t>
              </a:r>
            </a:p>
          </p:txBody>
        </p:sp>
        <p:sp>
          <p:nvSpPr>
            <p:cNvPr id="435" name="?"/>
            <p:cNvSpPr txBox="1"/>
            <p:nvPr/>
          </p:nvSpPr>
          <p:spPr>
            <a:xfrm>
              <a:off x="0" y="0"/>
              <a:ext cx="984201" cy="2222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4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?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roup"/>
          <p:cNvGrpSpPr/>
          <p:nvPr/>
        </p:nvGrpSpPr>
        <p:grpSpPr>
          <a:xfrm>
            <a:off x="4871462" y="4872888"/>
            <a:ext cx="14641076" cy="3970224"/>
            <a:chOff x="0" y="0"/>
            <a:chExt cx="14641074" cy="3970221"/>
          </a:xfrm>
        </p:grpSpPr>
        <p:sp>
          <p:nvSpPr>
            <p:cNvPr id="438" name="Book  class, because database gives us raw rows and columns but java wants to  work with Objects. So we need a  Book  class to convert database rows to java object  These objects are called POJOs (Plain Old Java Objects) or Model classes"/>
            <p:cNvSpPr/>
            <p:nvPr/>
          </p:nvSpPr>
          <p:spPr>
            <a:xfrm>
              <a:off x="185285" y="1444885"/>
              <a:ext cx="14455790" cy="2525337"/>
            </a:xfrm>
            <a:prstGeom prst="roundRect">
              <a:avLst>
                <a:gd name="adj" fmla="val 7544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2700"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Book</a:t>
              </a:r>
              <a:r>
                <a:t>  class, because database gives us raw rows and columns but java wants to </a:t>
              </a:r>
              <a:br/>
              <a:r>
                <a:t>work with Objects. So we need a 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Book</a:t>
              </a:r>
              <a:r>
                <a:t>  class to convert database rows to java object</a:t>
              </a:r>
              <a:br/>
              <a:br/>
              <a:r>
                <a:t>These objects are called </a:t>
              </a:r>
              <a:r>
                <a:rPr>
                  <a:solidFill>
                    <a:srgbClr val="34A3C5"/>
                  </a:solidFill>
                  <a:latin typeface="Graphik Medium"/>
                  <a:ea typeface="Graphik Medium"/>
                  <a:cs typeface="Graphik Medium"/>
                  <a:sym typeface="Graphik Medium"/>
                </a:rPr>
                <a:t>POJOs</a:t>
              </a:r>
              <a:r>
                <a:t> </a:t>
              </a:r>
              <a:r>
                <a:rPr>
                  <a:solidFill>
                    <a:srgbClr val="34A3C5"/>
                  </a:solidFill>
                  <a:latin typeface="Graphik Medium"/>
                  <a:ea typeface="Graphik Medium"/>
                  <a:cs typeface="Graphik Medium"/>
                  <a:sym typeface="Graphik Medium"/>
                </a:rPr>
                <a:t>(Plain Old Java Objects)</a:t>
              </a:r>
              <a:r>
                <a:t> or </a:t>
              </a:r>
              <a:r>
                <a:rPr>
                  <a:solidFill>
                    <a:srgbClr val="34A3C5"/>
                  </a:solidFill>
                  <a:latin typeface="Graphik Medium"/>
                  <a:ea typeface="Graphik Medium"/>
                  <a:cs typeface="Graphik Medium"/>
                  <a:sym typeface="Graphik Medium"/>
                </a:rPr>
                <a:t>Model</a:t>
              </a:r>
              <a:r>
                <a:t> classes</a:t>
              </a:r>
            </a:p>
          </p:txBody>
        </p:sp>
        <p:sp>
          <p:nvSpPr>
            <p:cNvPr id="439" name="Answer"/>
            <p:cNvSpPr txBox="1"/>
            <p:nvPr/>
          </p:nvSpPr>
          <p:spPr>
            <a:xfrm>
              <a:off x="1015489" y="470843"/>
              <a:ext cx="2122247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5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Answer</a:t>
              </a:r>
            </a:p>
          </p:txBody>
        </p:sp>
        <p:sp>
          <p:nvSpPr>
            <p:cNvPr id="440" name="!"/>
            <p:cNvSpPr txBox="1"/>
            <p:nvPr/>
          </p:nvSpPr>
          <p:spPr>
            <a:xfrm>
              <a:off x="0" y="0"/>
              <a:ext cx="952947" cy="2222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4000"/>
              </a:pPr>
              <a:r>
                <a:t>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!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Let’s Create Book Model"/>
          <p:cNvSpPr txBox="1"/>
          <p:nvPr/>
        </p:nvSpPr>
        <p:spPr>
          <a:xfrm>
            <a:off x="7005736" y="6203950"/>
            <a:ext cx="10372528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8000"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Let’s Create </a:t>
            </a: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Book </a:t>
            </a:r>
            <a:r>
              <a:t>Model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tandard JDBC Recipe"/>
          <p:cNvSpPr txBox="1"/>
          <p:nvPr/>
        </p:nvSpPr>
        <p:spPr>
          <a:xfrm>
            <a:off x="7277844" y="6203950"/>
            <a:ext cx="9828312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8000"/>
            </a:pPr>
            <a:r>
              <a:t>Standard </a:t>
            </a:r>
            <a:r>
              <a:rPr>
                <a:solidFill>
                  <a:srgbClr val="C54A9C"/>
                </a:solidFill>
              </a:rPr>
              <a:t>JDBC</a:t>
            </a:r>
            <a:r>
              <a:t> Recipe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tandard JDBC Recipe"/>
          <p:cNvSpPr txBox="1"/>
          <p:nvPr/>
        </p:nvSpPr>
        <p:spPr>
          <a:xfrm>
            <a:off x="669205" y="708343"/>
            <a:ext cx="506556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Standard </a:t>
            </a:r>
            <a:r>
              <a:rPr>
                <a:solidFill>
                  <a:srgbClr val="C54A9C"/>
                </a:solidFill>
              </a:rPr>
              <a:t>JDBC</a:t>
            </a:r>
            <a:r>
              <a:t> Recipe</a:t>
            </a:r>
          </a:p>
        </p:txBody>
      </p:sp>
      <p:sp>
        <p:nvSpPr>
          <p:cNvPr id="448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49" name="Get a Connection"/>
          <p:cNvSpPr/>
          <p:nvPr/>
        </p:nvSpPr>
        <p:spPr>
          <a:xfrm>
            <a:off x="9063541" y="2382397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Get a Connection</a:t>
            </a:r>
          </a:p>
        </p:txBody>
      </p:sp>
      <p:sp>
        <p:nvSpPr>
          <p:cNvPr id="450" name="Map each row to Model Object"/>
          <p:cNvSpPr/>
          <p:nvPr/>
        </p:nvSpPr>
        <p:spPr>
          <a:xfrm>
            <a:off x="9063541" y="11079602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Map each row to Model Object</a:t>
            </a:r>
          </a:p>
        </p:txBody>
      </p:sp>
      <p:sp>
        <p:nvSpPr>
          <p:cNvPr id="451" name="Create a Statement"/>
          <p:cNvSpPr/>
          <p:nvPr/>
        </p:nvSpPr>
        <p:spPr>
          <a:xfrm>
            <a:off x="9063541" y="6731000"/>
            <a:ext cx="6256919" cy="1270000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Create a Statement</a:t>
            </a:r>
          </a:p>
        </p:txBody>
      </p:sp>
      <p:sp>
        <p:nvSpPr>
          <p:cNvPr id="452" name="Write the SQL query string"/>
          <p:cNvSpPr/>
          <p:nvPr/>
        </p:nvSpPr>
        <p:spPr>
          <a:xfrm>
            <a:off x="9063541" y="4556698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Write the SQL query string</a:t>
            </a:r>
          </a:p>
        </p:txBody>
      </p:sp>
      <p:sp>
        <p:nvSpPr>
          <p:cNvPr id="453" name="Iterate through the ResultSet"/>
          <p:cNvSpPr/>
          <p:nvPr/>
        </p:nvSpPr>
        <p:spPr>
          <a:xfrm>
            <a:off x="9063541" y="8905301"/>
            <a:ext cx="6256919" cy="1270001"/>
          </a:xfrm>
          <a:prstGeom prst="roundRect">
            <a:avLst>
              <a:gd name="adj" fmla="val 15000"/>
            </a:avLst>
          </a:prstGeom>
          <a:ln w="25400">
            <a:solidFill>
              <a:srgbClr val="C54A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Iterate through the ResultSet</a:t>
            </a:r>
          </a:p>
        </p:txBody>
      </p:sp>
      <p:grpSp>
        <p:nvGrpSpPr>
          <p:cNvPr id="457" name="Group"/>
          <p:cNvGrpSpPr/>
          <p:nvPr/>
        </p:nvGrpSpPr>
        <p:grpSpPr>
          <a:xfrm>
            <a:off x="1936245" y="2382397"/>
            <a:ext cx="3605094" cy="1270001"/>
            <a:chOff x="0" y="0"/>
            <a:chExt cx="3605093" cy="1270000"/>
          </a:xfrm>
        </p:grpSpPr>
        <p:sp>
          <p:nvSpPr>
            <p:cNvPr id="454" name="Oval"/>
            <p:cNvSpPr/>
            <p:nvPr/>
          </p:nvSpPr>
          <p:spPr>
            <a:xfrm>
              <a:off x="0" y="0"/>
              <a:ext cx="1310358" cy="1270000"/>
            </a:xfrm>
            <a:prstGeom prst="ellipse">
              <a:avLst/>
            </a:prstGeom>
            <a:noFill/>
            <a:ln w="25400" cap="flat">
              <a:solidFill>
                <a:srgbClr val="C54A9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  <p:sp>
          <p:nvSpPr>
            <p:cNvPr id="455" name="5"/>
            <p:cNvSpPr txBox="1"/>
            <p:nvPr/>
          </p:nvSpPr>
          <p:spPr>
            <a:xfrm>
              <a:off x="319347" y="50799"/>
              <a:ext cx="671663" cy="1168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7000">
                  <a:solidFill>
                    <a:srgbClr val="C54A9C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456" name="STEPS"/>
            <p:cNvSpPr txBox="1"/>
            <p:nvPr/>
          </p:nvSpPr>
          <p:spPr>
            <a:xfrm>
              <a:off x="1641603" y="203199"/>
              <a:ext cx="1963491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C54A9C"/>
                  </a:solidFill>
                </a:defRPr>
              </a:lvl1pPr>
            </a:lstStyle>
            <a:p>
              <a:pPr/>
              <a:r>
                <a:t>STEPS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1" grpId="5"/>
      <p:bldP build="whole" bldLvl="1" animBg="1" rev="0" advAuto="0" spid="449" grpId="3"/>
      <p:bldP build="whole" bldLvl="1" animBg="1" rev="0" advAuto="0" spid="457" grpId="2"/>
      <p:bldP build="whole" bldLvl="1" animBg="1" rev="0" advAuto="0" spid="448" grpId="1"/>
      <p:bldP build="whole" bldLvl="1" animBg="1" rev="0" advAuto="0" spid="453" grpId="6"/>
      <p:bldP build="whole" bldLvl="1" animBg="1" rev="0" advAuto="0" spid="450" grpId="7"/>
      <p:bldP build="whole" bldLvl="1" animBg="1" rev="0" advAuto="0" spid="452" grpId="4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roup"/>
          <p:cNvGrpSpPr/>
          <p:nvPr/>
        </p:nvGrpSpPr>
        <p:grpSpPr>
          <a:xfrm>
            <a:off x="4825854" y="5690238"/>
            <a:ext cx="14732291" cy="2335524"/>
            <a:chOff x="0" y="0"/>
            <a:chExt cx="14732289" cy="2335522"/>
          </a:xfrm>
        </p:grpSpPr>
        <p:sp>
          <p:nvSpPr>
            <p:cNvPr id="459" name="Let’s Create First BookDAO Method"/>
            <p:cNvSpPr txBox="1"/>
            <p:nvPr/>
          </p:nvSpPr>
          <p:spPr>
            <a:xfrm>
              <a:off x="0" y="0"/>
              <a:ext cx="14732290" cy="1308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>
                <a:defRPr sz="8000">
                  <a:solidFill>
                    <a:srgbClr val="34A3C5"/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Let’s Create First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Book</a:t>
              </a:r>
              <a:r>
                <a:t>DAO </a:t>
              </a: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Method</a:t>
              </a:r>
            </a:p>
          </p:txBody>
        </p:sp>
        <p:sp>
          <p:nvSpPr>
            <p:cNvPr id="460" name="getAllBooks( )"/>
            <p:cNvSpPr txBox="1"/>
            <p:nvPr/>
          </p:nvSpPr>
          <p:spPr>
            <a:xfrm>
              <a:off x="5420428" y="1471922"/>
              <a:ext cx="3891434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5000"/>
              </a:pPr>
              <a:r>
                <a:rPr>
                  <a:solidFill>
                    <a:srgbClr val="34A3C5"/>
                  </a:solidFill>
                </a:rPr>
                <a:t>getAllBooks</a:t>
              </a:r>
              <a:r>
                <a:t>( 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BookDAO"/>
          <p:cNvSpPr txBox="1"/>
          <p:nvPr/>
        </p:nvSpPr>
        <p:spPr>
          <a:xfrm>
            <a:off x="669205" y="708343"/>
            <a:ext cx="225941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Book</a:t>
            </a:r>
            <a:r>
              <a:rPr>
                <a:solidFill>
                  <a:srgbClr val="34A3C5"/>
                </a:solidFill>
              </a:rPr>
              <a:t>DAO</a:t>
            </a:r>
          </a:p>
        </p:txBody>
      </p:sp>
      <p:sp>
        <p:nvSpPr>
          <p:cNvPr id="464" name="Line"/>
          <p:cNvSpPr/>
          <p:nvPr/>
        </p:nvSpPr>
        <p:spPr>
          <a:xfrm>
            <a:off x="515235" y="1666301"/>
            <a:ext cx="6434414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468" name="Group"/>
          <p:cNvGrpSpPr/>
          <p:nvPr/>
        </p:nvGrpSpPr>
        <p:grpSpPr>
          <a:xfrm>
            <a:off x="8792614" y="3814914"/>
            <a:ext cx="6798772" cy="6086172"/>
            <a:chOff x="0" y="0"/>
            <a:chExt cx="6798771" cy="6086171"/>
          </a:xfrm>
        </p:grpSpPr>
        <p:sp>
          <p:nvSpPr>
            <p:cNvPr id="465" name="addBook( book )"/>
            <p:cNvSpPr/>
            <p:nvPr/>
          </p:nvSpPr>
          <p:spPr>
            <a:xfrm>
              <a:off x="0" y="0"/>
              <a:ext cx="3949114" cy="1276396"/>
            </a:xfrm>
            <a:prstGeom prst="roundRect">
              <a:avLst>
                <a:gd name="adj" fmla="val 14925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addBook( book )</a:t>
              </a:r>
            </a:p>
          </p:txBody>
        </p:sp>
        <p:sp>
          <p:nvSpPr>
            <p:cNvPr id="466" name="updateBookTitle( id, newTitle )"/>
            <p:cNvSpPr/>
            <p:nvPr/>
          </p:nvSpPr>
          <p:spPr>
            <a:xfrm>
              <a:off x="0" y="2314052"/>
              <a:ext cx="6798772" cy="1276396"/>
            </a:xfrm>
            <a:prstGeom prst="roundRect">
              <a:avLst>
                <a:gd name="adj" fmla="val 14925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updateBookTitle( id, newTitle )</a:t>
              </a:r>
            </a:p>
          </p:txBody>
        </p:sp>
        <p:sp>
          <p:nvSpPr>
            <p:cNvPr id="467" name="deleteBook( id )"/>
            <p:cNvSpPr/>
            <p:nvPr/>
          </p:nvSpPr>
          <p:spPr>
            <a:xfrm>
              <a:off x="0" y="4809776"/>
              <a:ext cx="4102126" cy="1276396"/>
            </a:xfrm>
            <a:prstGeom prst="roundRect">
              <a:avLst>
                <a:gd name="adj" fmla="val 14925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spcBef>
                  <a:spcPts val="0"/>
                </a:spcBef>
                <a:defRPr sz="32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deleteBook( id 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roup"/>
          <p:cNvGrpSpPr/>
          <p:nvPr/>
        </p:nvGrpSpPr>
        <p:grpSpPr>
          <a:xfrm>
            <a:off x="4871462" y="4997211"/>
            <a:ext cx="14641076" cy="3721578"/>
            <a:chOff x="0" y="0"/>
            <a:chExt cx="14641074" cy="3721577"/>
          </a:xfrm>
        </p:grpSpPr>
        <p:sp>
          <p:nvSpPr>
            <p:cNvPr id="470" name="Why do we use the book_id in the WHERE clause instead of searching by the title in deleteBook( id ) method"/>
            <p:cNvSpPr/>
            <p:nvPr/>
          </p:nvSpPr>
          <p:spPr>
            <a:xfrm>
              <a:off x="185285" y="1444885"/>
              <a:ext cx="14455790" cy="2276693"/>
            </a:xfrm>
            <a:prstGeom prst="roundRect">
              <a:avLst>
                <a:gd name="adj" fmla="val 8367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2700"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t>Why do we use the book_id in the WHERE clause instead of searching by the title</a:t>
              </a:r>
              <a:br/>
              <a:r>
                <a:t>in </a:t>
              </a:r>
              <a:r>
                <a:rPr>
                  <a:solidFill>
                    <a:srgbClr val="34A3C5"/>
                  </a:solidFill>
                </a:rPr>
                <a:t>deleteBook</a:t>
              </a:r>
              <a:r>
                <a:t>( id ) method</a:t>
              </a:r>
            </a:p>
          </p:txBody>
        </p:sp>
        <p:sp>
          <p:nvSpPr>
            <p:cNvPr id="471" name="Question"/>
            <p:cNvSpPr txBox="1"/>
            <p:nvPr/>
          </p:nvSpPr>
          <p:spPr>
            <a:xfrm>
              <a:off x="1015489" y="470843"/>
              <a:ext cx="2523197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5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Question</a:t>
              </a:r>
            </a:p>
          </p:txBody>
        </p:sp>
        <p:sp>
          <p:nvSpPr>
            <p:cNvPr id="472" name="?"/>
            <p:cNvSpPr txBox="1"/>
            <p:nvPr/>
          </p:nvSpPr>
          <p:spPr>
            <a:xfrm>
              <a:off x="0" y="0"/>
              <a:ext cx="984201" cy="2222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4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?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he Author Model"/>
          <p:cNvSpPr txBox="1"/>
          <p:nvPr/>
        </p:nvSpPr>
        <p:spPr>
          <a:xfrm>
            <a:off x="8324353" y="6203950"/>
            <a:ext cx="7735294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8000">
                <a:solidFill>
                  <a:srgbClr val="34A3C5"/>
                </a:solidFill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The </a:t>
            </a: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Author </a:t>
            </a:r>
            <a:r>
              <a:t>Model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roup"/>
          <p:cNvGrpSpPr/>
          <p:nvPr/>
        </p:nvGrpSpPr>
        <p:grpSpPr>
          <a:xfrm>
            <a:off x="9347887" y="6344288"/>
            <a:ext cx="4114114" cy="2519674"/>
            <a:chOff x="2320412" y="654049"/>
            <a:chExt cx="4114111" cy="2519672"/>
          </a:xfrm>
        </p:grpSpPr>
        <p:sp>
          <p:nvSpPr>
            <p:cNvPr id="477" name="First AuthorDAO Method"/>
            <p:cNvSpPr/>
            <p:nvPr/>
          </p:nvSpPr>
          <p:spPr>
            <a:xfrm>
              <a:off x="5164524" y="65404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>
                <a:defRPr sz="8000">
                  <a:solidFill>
                    <a:srgbClr val="34A3C5"/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First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Author</a:t>
              </a:r>
              <a:r>
                <a:t>DAO </a:t>
              </a: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Method</a:t>
              </a:r>
            </a:p>
          </p:txBody>
        </p:sp>
        <p:sp>
          <p:nvSpPr>
            <p:cNvPr id="478" name="saveAuthor( author )"/>
            <p:cNvSpPr/>
            <p:nvPr/>
          </p:nvSpPr>
          <p:spPr>
            <a:xfrm>
              <a:off x="2320412" y="190372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5000"/>
              </a:pPr>
              <a:r>
                <a:rPr>
                  <a:solidFill>
                    <a:srgbClr val="34A3C5"/>
                  </a:solidFill>
                </a:rPr>
                <a:t>saveAuthor</a:t>
              </a:r>
              <a:r>
                <a:t>( author 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roup"/>
          <p:cNvGrpSpPr/>
          <p:nvPr/>
        </p:nvGrpSpPr>
        <p:grpSpPr>
          <a:xfrm>
            <a:off x="5918201" y="5690238"/>
            <a:ext cx="12547598" cy="2335524"/>
            <a:chOff x="0" y="0"/>
            <a:chExt cx="12547597" cy="2335522"/>
          </a:xfrm>
        </p:grpSpPr>
        <p:sp>
          <p:nvSpPr>
            <p:cNvPr id="481" name="The BookAuthorMappingDAO"/>
            <p:cNvSpPr txBox="1"/>
            <p:nvPr/>
          </p:nvSpPr>
          <p:spPr>
            <a:xfrm>
              <a:off x="0" y="0"/>
              <a:ext cx="12547598" cy="1308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>
                <a:defRPr sz="8000">
                  <a:solidFill>
                    <a:srgbClr val="34A3C5"/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The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BookAuthorMapping</a:t>
              </a:r>
              <a:r>
                <a:t>DAO</a:t>
              </a:r>
            </a:p>
          </p:txBody>
        </p:sp>
        <p:sp>
          <p:nvSpPr>
            <p:cNvPr id="482" name="linkBookToAuthor( bookId, authorId )"/>
            <p:cNvSpPr txBox="1"/>
            <p:nvPr/>
          </p:nvSpPr>
          <p:spPr>
            <a:xfrm>
              <a:off x="1335551" y="1471922"/>
              <a:ext cx="9876496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5000"/>
              </a:pPr>
              <a:r>
                <a:rPr>
                  <a:solidFill>
                    <a:srgbClr val="34A3C5"/>
                  </a:solidFill>
                </a:rPr>
                <a:t>linkBookToAuthor</a:t>
              </a:r>
              <a:r>
                <a:t>( bookId, authorId 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roup"/>
          <p:cNvGrpSpPr/>
          <p:nvPr/>
        </p:nvGrpSpPr>
        <p:grpSpPr>
          <a:xfrm>
            <a:off x="8565610" y="5865237"/>
            <a:ext cx="4896391" cy="2639576"/>
            <a:chOff x="0" y="654049"/>
            <a:chExt cx="4896389" cy="2639574"/>
          </a:xfrm>
        </p:grpSpPr>
        <p:grpSp>
          <p:nvGrpSpPr>
            <p:cNvPr id="487" name="Group"/>
            <p:cNvGrpSpPr/>
            <p:nvPr/>
          </p:nvGrpSpPr>
          <p:grpSpPr>
            <a:xfrm>
              <a:off x="-1" y="654049"/>
              <a:ext cx="4896391" cy="2405425"/>
              <a:chOff x="0" y="654049"/>
              <a:chExt cx="4896389" cy="2405423"/>
            </a:xfrm>
          </p:grpSpPr>
          <p:sp>
            <p:nvSpPr>
              <p:cNvPr id="485" name="Group"/>
              <p:cNvSpPr/>
              <p:nvPr/>
            </p:nvSpPr>
            <p:spPr>
              <a:xfrm>
                <a:off x="0" y="178947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5000"/>
                </a:pPr>
                <a:r>
                  <a:rPr>
                    <a:solidFill>
                      <a:srgbClr val="34A3C5"/>
                    </a:solidFill>
                  </a:rPr>
                  <a:t>getAllBooksWithAuthors</a:t>
                </a:r>
                <a:r>
                  <a:t>( )</a:t>
                </a:r>
              </a:p>
            </p:txBody>
          </p:sp>
          <p:sp>
            <p:nvSpPr>
              <p:cNvPr id="486" name="Next Method"/>
              <p:cNvSpPr/>
              <p:nvPr/>
            </p:nvSpPr>
            <p:spPr>
              <a:xfrm>
                <a:off x="3626389" y="65404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8000">
                    <a:latin typeface="SF Pro Light"/>
                    <a:ea typeface="SF Pro Light"/>
                    <a:cs typeface="SF Pro Light"/>
                    <a:sym typeface="SF Pro Light"/>
                  </a:defRPr>
                </a:lvl1pPr>
              </a:lstStyle>
              <a:p>
                <a:pPr>
                  <a:defRPr>
                    <a:solidFill>
                      <a:srgbClr val="34A3C5"/>
                    </a:solidFill>
                  </a:defRPr>
                </a:pPr>
                <a:r>
                  <a:rPr>
                    <a:solidFill>
                      <a:schemeClr val="accent1">
                        <a:satOff val="-9155"/>
                        <a:lumOff val="-32673"/>
                      </a:schemeClr>
                    </a:solidFill>
                  </a:rPr>
                  <a:t>Next Method</a:t>
                </a:r>
              </a:p>
            </p:txBody>
          </p:sp>
        </p:grpSp>
        <p:sp>
          <p:nvSpPr>
            <p:cNvPr id="488" name="BUT"/>
            <p:cNvSpPr txBox="1"/>
            <p:nvPr/>
          </p:nvSpPr>
          <p:spPr>
            <a:xfrm>
              <a:off x="2967329" y="2430024"/>
              <a:ext cx="1318122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5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BUT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roup"/>
          <p:cNvGrpSpPr/>
          <p:nvPr/>
        </p:nvGrpSpPr>
        <p:grpSpPr>
          <a:xfrm>
            <a:off x="4871462" y="4997211"/>
            <a:ext cx="14641076" cy="3721578"/>
            <a:chOff x="0" y="0"/>
            <a:chExt cx="14641074" cy="3721577"/>
          </a:xfrm>
        </p:grpSpPr>
        <p:sp>
          <p:nvSpPr>
            <p:cNvPr id="491" name="Before we write the code, let’s think about  Book  model we made earlier, Since a  Book belongs-to an  Author , should we add a simple  int authorId  to our  Book  class, or should we actually put a whole  Author  object inside the  Book  class"/>
            <p:cNvSpPr/>
            <p:nvPr/>
          </p:nvSpPr>
          <p:spPr>
            <a:xfrm>
              <a:off x="185285" y="1444885"/>
              <a:ext cx="14455790" cy="2276693"/>
            </a:xfrm>
            <a:prstGeom prst="roundRect">
              <a:avLst>
                <a:gd name="adj" fmla="val 8367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 sz="2700"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t>Before we write the code, let’s think about 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Book</a:t>
              </a:r>
              <a:r>
                <a:t>  model we made earlier, Since a 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Book</a:t>
              </a:r>
              <a:r>
                <a:t> </a:t>
              </a:r>
              <a:r>
                <a:rPr i="1">
                  <a:latin typeface="Graphik"/>
                  <a:ea typeface="Graphik"/>
                  <a:cs typeface="Graphik"/>
                  <a:sym typeface="Graphik"/>
                </a:rPr>
                <a:t>belongs-to</a:t>
              </a:r>
              <a:r>
                <a:t> an 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Author </a:t>
              </a:r>
              <a:r>
                <a:t>, should we add a simple 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int authorId</a:t>
              </a:r>
              <a:r>
                <a:t>  to our 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Book</a:t>
              </a:r>
              <a:r>
                <a:t>  class, or should we actually put a whole 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Author</a:t>
              </a:r>
              <a:r>
                <a:t>  object inside the 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Book</a:t>
              </a:r>
              <a:r>
                <a:t>  class</a:t>
              </a:r>
            </a:p>
          </p:txBody>
        </p:sp>
        <p:sp>
          <p:nvSpPr>
            <p:cNvPr id="492" name="Question"/>
            <p:cNvSpPr txBox="1"/>
            <p:nvPr/>
          </p:nvSpPr>
          <p:spPr>
            <a:xfrm>
              <a:off x="1015489" y="470843"/>
              <a:ext cx="2523197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5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Question</a:t>
              </a:r>
            </a:p>
          </p:txBody>
        </p:sp>
        <p:sp>
          <p:nvSpPr>
            <p:cNvPr id="493" name="?"/>
            <p:cNvSpPr txBox="1"/>
            <p:nvPr/>
          </p:nvSpPr>
          <p:spPr>
            <a:xfrm>
              <a:off x="0" y="0"/>
              <a:ext cx="984201" cy="2222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4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?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Rounded Rectangle"/>
          <p:cNvSpPr/>
          <p:nvPr/>
        </p:nvSpPr>
        <p:spPr>
          <a:xfrm>
            <a:off x="3366520" y="4950802"/>
            <a:ext cx="18303175" cy="4664348"/>
          </a:xfrm>
          <a:prstGeom prst="roundRect">
            <a:avLst>
              <a:gd name="adj" fmla="val 4084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497" name="The Database Way (Foreign Key)"/>
          <p:cNvSpPr txBox="1"/>
          <p:nvPr/>
        </p:nvSpPr>
        <p:spPr>
          <a:xfrm>
            <a:off x="673100" y="711199"/>
            <a:ext cx="717222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Database Way (Foreign Key)</a:t>
            </a:r>
          </a:p>
        </p:txBody>
      </p:sp>
      <p:sp>
        <p:nvSpPr>
          <p:cNvPr id="498" name="Line"/>
          <p:cNvSpPr/>
          <p:nvPr/>
        </p:nvSpPr>
        <p:spPr>
          <a:xfrm>
            <a:off x="515235" y="1666301"/>
            <a:ext cx="7855131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9" name="int authorId"/>
          <p:cNvSpPr/>
          <p:nvPr/>
        </p:nvSpPr>
        <p:spPr>
          <a:xfrm>
            <a:off x="1700441" y="2672036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rPr>
                <a:solidFill>
                  <a:srgbClr val="C54A9C"/>
                </a:solidFill>
              </a:rPr>
              <a:t>int</a:t>
            </a:r>
            <a:r>
              <a:t> authorId</a:t>
            </a:r>
          </a:p>
        </p:txBody>
      </p:sp>
      <p:sp>
        <p:nvSpPr>
          <p:cNvPr id="500" name="Line"/>
          <p:cNvSpPr/>
          <p:nvPr/>
        </p:nvSpPr>
        <p:spPr>
          <a:xfrm flipH="1" flipV="1">
            <a:off x="5717375" y="3957284"/>
            <a:ext cx="1043522" cy="958214"/>
          </a:xfrm>
          <a:prstGeom prst="line">
            <a:avLst/>
          </a:prstGeom>
          <a:ln w="381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503" name="Group"/>
          <p:cNvGrpSpPr/>
          <p:nvPr/>
        </p:nvGrpSpPr>
        <p:grpSpPr>
          <a:xfrm>
            <a:off x="4297883" y="5639622"/>
            <a:ext cx="11839172" cy="769621"/>
            <a:chOff x="12352" y="0"/>
            <a:chExt cx="11839170" cy="769619"/>
          </a:xfrm>
        </p:grpSpPr>
        <p:sp>
          <p:nvSpPr>
            <p:cNvPr id="501" name="Easy to code, but it’s not very “Object-Oriented“"/>
            <p:cNvSpPr txBox="1"/>
            <p:nvPr/>
          </p:nvSpPr>
          <p:spPr>
            <a:xfrm>
              <a:off x="822334" y="0"/>
              <a:ext cx="11029189" cy="769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Easy to code, but it’s not very “Object-Oriented“</a:t>
              </a:r>
            </a:p>
          </p:txBody>
        </p:sp>
        <p:sp>
          <p:nvSpPr>
            <p:cNvPr id="502" name="Star"/>
            <p:cNvSpPr/>
            <p:nvPr/>
          </p:nvSpPr>
          <p:spPr>
            <a:xfrm>
              <a:off x="12352" y="145203"/>
              <a:ext cx="480045" cy="47921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</p:grpSp>
      <p:grpSp>
        <p:nvGrpSpPr>
          <p:cNvPr id="506" name="Group"/>
          <p:cNvGrpSpPr/>
          <p:nvPr/>
        </p:nvGrpSpPr>
        <p:grpSpPr>
          <a:xfrm>
            <a:off x="4265240" y="7193781"/>
            <a:ext cx="15463752" cy="1442721"/>
            <a:chOff x="12352" y="-336550"/>
            <a:chExt cx="15463750" cy="1442719"/>
          </a:xfrm>
        </p:grpSpPr>
        <p:sp>
          <p:nvSpPr>
            <p:cNvPr id="504" name="If you have a Book object and want to know the author’s name, you have to run a second, separate query using that ID."/>
            <p:cNvSpPr txBox="1"/>
            <p:nvPr/>
          </p:nvSpPr>
          <p:spPr>
            <a:xfrm>
              <a:off x="822334" y="-336551"/>
              <a:ext cx="14653769" cy="1442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t>If you have a Book object and want to know the author’s name,</a:t>
              </a:r>
              <a:br/>
              <a:r>
                <a:t>you have to run a second, separate query using that ID.</a:t>
              </a:r>
            </a:p>
          </p:txBody>
        </p:sp>
        <p:sp>
          <p:nvSpPr>
            <p:cNvPr id="505" name="Star"/>
            <p:cNvSpPr/>
            <p:nvPr/>
          </p:nvSpPr>
          <p:spPr>
            <a:xfrm>
              <a:off x="12352" y="145203"/>
              <a:ext cx="480045" cy="47921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3" grpId="1"/>
      <p:bldP build="whole" bldLvl="1" animBg="1" rev="0" advAuto="0" spid="506" grpId="2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ounded Rectangle"/>
          <p:cNvSpPr/>
          <p:nvPr/>
        </p:nvSpPr>
        <p:spPr>
          <a:xfrm>
            <a:off x="3366520" y="4950802"/>
            <a:ext cx="18303175" cy="4664348"/>
          </a:xfrm>
          <a:prstGeom prst="roundRect">
            <a:avLst>
              <a:gd name="adj" fmla="val 4084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509" name="The Object Way (Composition)"/>
          <p:cNvSpPr txBox="1"/>
          <p:nvPr/>
        </p:nvSpPr>
        <p:spPr>
          <a:xfrm>
            <a:off x="673100" y="711199"/>
            <a:ext cx="678775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Object Way (Composition)</a:t>
            </a:r>
          </a:p>
        </p:txBody>
      </p:sp>
      <p:sp>
        <p:nvSpPr>
          <p:cNvPr id="510" name="Author author"/>
          <p:cNvSpPr/>
          <p:nvPr/>
        </p:nvSpPr>
        <p:spPr>
          <a:xfrm>
            <a:off x="1700441" y="2672036"/>
            <a:ext cx="4064001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rPr>
                <a:solidFill>
                  <a:srgbClr val="34A3C5"/>
                </a:solidFill>
              </a:rPr>
              <a:t>Author</a:t>
            </a:r>
            <a:r>
              <a:t> author</a:t>
            </a:r>
          </a:p>
        </p:txBody>
      </p:sp>
      <p:sp>
        <p:nvSpPr>
          <p:cNvPr id="511" name="Line"/>
          <p:cNvSpPr/>
          <p:nvPr/>
        </p:nvSpPr>
        <p:spPr>
          <a:xfrm flipH="1" flipV="1">
            <a:off x="5717375" y="3957284"/>
            <a:ext cx="1043522" cy="958214"/>
          </a:xfrm>
          <a:prstGeom prst="line">
            <a:avLst/>
          </a:prstGeom>
          <a:ln w="381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514" name="Group"/>
          <p:cNvGrpSpPr/>
          <p:nvPr/>
        </p:nvGrpSpPr>
        <p:grpSpPr>
          <a:xfrm>
            <a:off x="4297883" y="5784826"/>
            <a:ext cx="2079984" cy="1509607"/>
            <a:chOff x="12352" y="165597"/>
            <a:chExt cx="2079982" cy="1509606"/>
          </a:xfrm>
        </p:grpSpPr>
        <p:sp>
          <p:nvSpPr>
            <p:cNvPr id="512" name="Book actually owns an Author object."/>
            <p:cNvSpPr/>
            <p:nvPr/>
          </p:nvSpPr>
          <p:spPr>
            <a:xfrm>
              <a:off x="822334" y="40520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t>Book actually owns an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Author</a:t>
              </a:r>
              <a:r>
                <a:t> object.</a:t>
              </a:r>
            </a:p>
          </p:txBody>
        </p:sp>
        <p:sp>
          <p:nvSpPr>
            <p:cNvPr id="513" name="Star"/>
            <p:cNvSpPr/>
            <p:nvPr/>
          </p:nvSpPr>
          <p:spPr>
            <a:xfrm>
              <a:off x="12352" y="165597"/>
              <a:ext cx="480045" cy="47921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</p:grpSp>
      <p:grpSp>
        <p:nvGrpSpPr>
          <p:cNvPr id="517" name="Group"/>
          <p:cNvGrpSpPr/>
          <p:nvPr/>
        </p:nvGrpSpPr>
        <p:grpSpPr>
          <a:xfrm>
            <a:off x="4265240" y="7173386"/>
            <a:ext cx="16947113" cy="1483510"/>
            <a:chOff x="12352" y="-356944"/>
            <a:chExt cx="16947110" cy="1483508"/>
          </a:xfrm>
        </p:grpSpPr>
        <p:sp>
          <p:nvSpPr>
            <p:cNvPr id="515" name="When you fetch a book you can fetch the author’s details at the same time and “plug” the Author object right into the Book."/>
            <p:cNvSpPr txBox="1"/>
            <p:nvPr/>
          </p:nvSpPr>
          <p:spPr>
            <a:xfrm>
              <a:off x="822334" y="-356945"/>
              <a:ext cx="16137129" cy="1483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>
                  <a:latin typeface="Graphik Light"/>
                  <a:ea typeface="Graphik Light"/>
                  <a:cs typeface="Graphik Light"/>
                  <a:sym typeface="Graphik Light"/>
                </a:defRPr>
              </a:pPr>
              <a:r>
                <a:t>When you fetch a book you can fetch the author’s details at the same</a:t>
              </a:r>
              <a:br/>
              <a:r>
                <a:t>time and “plug” the </a:t>
              </a:r>
              <a:r>
                <a:rPr>
                  <a:latin typeface="Courier New"/>
                  <a:ea typeface="Courier New"/>
                  <a:cs typeface="Courier New"/>
                  <a:sym typeface="Courier New"/>
                </a:rPr>
                <a:t>Author</a:t>
              </a:r>
              <a:r>
                <a:t> object right into the Book.</a:t>
              </a:r>
            </a:p>
          </p:txBody>
        </p:sp>
        <p:sp>
          <p:nvSpPr>
            <p:cNvPr id="516" name="Star"/>
            <p:cNvSpPr/>
            <p:nvPr/>
          </p:nvSpPr>
          <p:spPr>
            <a:xfrm>
              <a:off x="12352" y="145203"/>
              <a:ext cx="480045" cy="47921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noFill/>
            <a:ln w="25400" cap="flat">
              <a:solidFill>
                <a:srgbClr val="34A3C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pPr>
            </a:p>
          </p:txBody>
        </p:sp>
      </p:grpSp>
      <p:sp>
        <p:nvSpPr>
          <p:cNvPr id="518" name="Line"/>
          <p:cNvSpPr/>
          <p:nvPr/>
        </p:nvSpPr>
        <p:spPr>
          <a:xfrm>
            <a:off x="515235" y="1666301"/>
            <a:ext cx="7855131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14" grpId="1"/>
      <p:bldP build="whole" bldLvl="1" animBg="1" rev="0" advAuto="0" spid="517" grpId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roup"/>
          <p:cNvGrpSpPr/>
          <p:nvPr/>
        </p:nvGrpSpPr>
        <p:grpSpPr>
          <a:xfrm>
            <a:off x="5615463" y="5750923"/>
            <a:ext cx="13153074" cy="2214154"/>
            <a:chOff x="0" y="0"/>
            <a:chExt cx="13153073" cy="2214152"/>
          </a:xfrm>
        </p:grpSpPr>
        <p:sp>
          <p:nvSpPr>
            <p:cNvPr id="520" name="Refine Book Model"/>
            <p:cNvSpPr txBox="1"/>
            <p:nvPr/>
          </p:nvSpPr>
          <p:spPr>
            <a:xfrm>
              <a:off x="2529799" y="0"/>
              <a:ext cx="8093473" cy="1308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8000">
                  <a:solidFill>
                    <a:srgbClr val="34A3C5"/>
                  </a:solidFill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Refine</a:t>
              </a:r>
              <a:r>
                <a:t>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Book </a:t>
              </a:r>
              <a:r>
                <a:t>Model</a:t>
              </a:r>
            </a:p>
          </p:txBody>
        </p:sp>
        <p:sp>
          <p:nvSpPr>
            <p:cNvPr id="521" name="Since it’s a Many-to-Many relationship, our Book class shouldn’t just have one Author. Instead, it needs a way to hold a collection of them."/>
            <p:cNvSpPr txBox="1"/>
            <p:nvPr/>
          </p:nvSpPr>
          <p:spPr>
            <a:xfrm>
              <a:off x="0" y="1201581"/>
              <a:ext cx="13153073" cy="10125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i="1" sz="27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Since it’s a Many-to-Many relationship, our Book class shouldn’t just have one Author.</a:t>
              </a:r>
              <a:br/>
              <a:r>
                <a:t>Instead, it needs a way to hold a collection of them.</a:t>
              </a:r>
            </a:p>
          </p:txBody>
        </p:sp>
      </p:grpSp>
      <p:sp>
        <p:nvSpPr>
          <p:cNvPr id="523" name="Use    List &lt; Author &gt;"/>
          <p:cNvSpPr/>
          <p:nvPr/>
        </p:nvSpPr>
        <p:spPr>
          <a:xfrm>
            <a:off x="9832056" y="8618970"/>
            <a:ext cx="4719888" cy="1270001"/>
          </a:xfrm>
          <a:prstGeom prst="roundRect">
            <a:avLst>
              <a:gd name="adj" fmla="val 15000"/>
            </a:avLst>
          </a:prstGeom>
          <a:ln w="25400">
            <a:solidFill>
              <a:schemeClr val="accent4">
                <a:hueOff val="-297102"/>
                <a:satOff val="16978"/>
                <a:lumOff val="-2088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Use    </a:t>
            </a:r>
            <a:r>
              <a:rPr>
                <a:solidFill>
                  <a:srgbClr val="34A3C5"/>
                </a:solidFill>
              </a:rPr>
              <a:t>List </a:t>
            </a:r>
            <a:r>
              <a:t>&lt; </a:t>
            </a:r>
            <a:r>
              <a:rPr>
                <a:solidFill>
                  <a:srgbClr val="34A3C5"/>
                </a:solidFill>
              </a:rPr>
              <a:t>Author </a:t>
            </a:r>
            <a:r>
              <a:t>&gt;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"/>
          <p:cNvGrpSpPr/>
          <p:nvPr/>
        </p:nvGrpSpPr>
        <p:grpSpPr>
          <a:xfrm>
            <a:off x="4871462" y="4997211"/>
            <a:ext cx="14641076" cy="3721578"/>
            <a:chOff x="0" y="0"/>
            <a:chExt cx="14641074" cy="3721577"/>
          </a:xfrm>
        </p:grpSpPr>
        <p:sp>
          <p:nvSpPr>
            <p:cNvPr id="525" name="What is the SQL query for fetching all the books with their authors"/>
            <p:cNvSpPr/>
            <p:nvPr/>
          </p:nvSpPr>
          <p:spPr>
            <a:xfrm>
              <a:off x="185285" y="1444885"/>
              <a:ext cx="14455790" cy="2276693"/>
            </a:xfrm>
            <a:prstGeom prst="roundRect">
              <a:avLst>
                <a:gd name="adj" fmla="val 8367"/>
              </a:avLst>
            </a:prstGeom>
            <a:noFill/>
            <a:ln w="25400" cap="flat">
              <a:solidFill>
                <a:schemeClr val="accent4">
                  <a:hueOff val="-297102"/>
                  <a:satOff val="16978"/>
                  <a:lumOff val="-20883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defRPr sz="2700"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pPr/>
              <a:r>
                <a:t>What is the SQL query for fetching all the books with their authors</a:t>
              </a:r>
            </a:p>
          </p:txBody>
        </p:sp>
        <p:sp>
          <p:nvSpPr>
            <p:cNvPr id="526" name="Question"/>
            <p:cNvSpPr txBox="1"/>
            <p:nvPr/>
          </p:nvSpPr>
          <p:spPr>
            <a:xfrm>
              <a:off x="1015489" y="470843"/>
              <a:ext cx="2523197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5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Question</a:t>
              </a:r>
            </a:p>
          </p:txBody>
        </p:sp>
        <p:sp>
          <p:nvSpPr>
            <p:cNvPr id="527" name="?"/>
            <p:cNvSpPr txBox="1"/>
            <p:nvPr/>
          </p:nvSpPr>
          <p:spPr>
            <a:xfrm>
              <a:off x="0" y="0"/>
              <a:ext cx="984201" cy="2222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4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defRPr>
              </a:lvl1pPr>
            </a:lstStyle>
            <a:p>
              <a:pPr>
                <a:defRPr>
                  <a:solidFill>
                    <a:schemeClr val="accent1">
                      <a:satOff val="-9155"/>
                      <a:lumOff val="-32673"/>
                    </a:schemeClr>
                  </a:solidFill>
                </a:defRPr>
              </a:pP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?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Compressed Query"/>
          <p:cNvSpPr txBox="1"/>
          <p:nvPr/>
        </p:nvSpPr>
        <p:spPr>
          <a:xfrm>
            <a:off x="673100" y="711199"/>
            <a:ext cx="432812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Compressed Query</a:t>
            </a:r>
          </a:p>
        </p:txBody>
      </p:sp>
      <p:sp>
        <p:nvSpPr>
          <p:cNvPr id="531" name="Line"/>
          <p:cNvSpPr/>
          <p:nvPr/>
        </p:nvSpPr>
        <p:spPr>
          <a:xfrm>
            <a:off x="515235" y="1666301"/>
            <a:ext cx="7855131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2" name="SELECT"/>
          <p:cNvSpPr txBox="1"/>
          <p:nvPr/>
        </p:nvSpPr>
        <p:spPr>
          <a:xfrm>
            <a:off x="2662570" y="3058608"/>
            <a:ext cx="1897758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SELECT</a:t>
            </a:r>
          </a:p>
        </p:txBody>
      </p:sp>
      <p:sp>
        <p:nvSpPr>
          <p:cNvPr id="533" name="book"/>
          <p:cNvSpPr/>
          <p:nvPr/>
        </p:nvSpPr>
        <p:spPr>
          <a:xfrm>
            <a:off x="4532950" y="4135624"/>
            <a:ext cx="2939362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</a:t>
            </a:r>
          </a:p>
        </p:txBody>
      </p:sp>
      <p:sp>
        <p:nvSpPr>
          <p:cNvPr id="534" name="author"/>
          <p:cNvSpPr/>
          <p:nvPr/>
        </p:nvSpPr>
        <p:spPr>
          <a:xfrm>
            <a:off x="7882383" y="4140540"/>
            <a:ext cx="293936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</a:t>
            </a:r>
          </a:p>
        </p:txBody>
      </p:sp>
      <p:sp>
        <p:nvSpPr>
          <p:cNvPr id="535" name="FROM"/>
          <p:cNvSpPr txBox="1"/>
          <p:nvPr/>
        </p:nvSpPr>
        <p:spPr>
          <a:xfrm>
            <a:off x="2662570" y="5486909"/>
            <a:ext cx="149939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FROM</a:t>
            </a:r>
          </a:p>
        </p:txBody>
      </p:sp>
      <p:sp>
        <p:nvSpPr>
          <p:cNvPr id="536" name="books"/>
          <p:cNvSpPr/>
          <p:nvPr/>
        </p:nvSpPr>
        <p:spPr>
          <a:xfrm>
            <a:off x="4532950" y="5470399"/>
            <a:ext cx="2939362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books</a:t>
            </a:r>
          </a:p>
        </p:txBody>
      </p:sp>
      <p:sp>
        <p:nvSpPr>
          <p:cNvPr id="537" name="JOIN"/>
          <p:cNvSpPr txBox="1"/>
          <p:nvPr/>
        </p:nvSpPr>
        <p:spPr>
          <a:xfrm>
            <a:off x="2662570" y="6821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538" name="book_author_mapping"/>
          <p:cNvSpPr/>
          <p:nvPr/>
        </p:nvSpPr>
        <p:spPr>
          <a:xfrm>
            <a:off x="4532950" y="6805175"/>
            <a:ext cx="5137826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</a:t>
            </a:r>
          </a:p>
        </p:txBody>
      </p:sp>
      <p:sp>
        <p:nvSpPr>
          <p:cNvPr id="539" name="ON"/>
          <p:cNvSpPr txBox="1"/>
          <p:nvPr/>
        </p:nvSpPr>
        <p:spPr>
          <a:xfrm>
            <a:off x="4520250" y="8156460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540" name="books PK"/>
          <p:cNvSpPr/>
          <p:nvPr/>
        </p:nvSpPr>
        <p:spPr>
          <a:xfrm>
            <a:off x="5916689" y="8139950"/>
            <a:ext cx="2939362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books PK</a:t>
            </a:r>
          </a:p>
        </p:txBody>
      </p:sp>
      <p:sp>
        <p:nvSpPr>
          <p:cNvPr id="541" name="book_author_mapping FK"/>
          <p:cNvSpPr/>
          <p:nvPr/>
        </p:nvSpPr>
        <p:spPr>
          <a:xfrm>
            <a:off x="9737336" y="8139950"/>
            <a:ext cx="5600114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 FK</a:t>
            </a:r>
          </a:p>
        </p:txBody>
      </p:sp>
      <p:sp>
        <p:nvSpPr>
          <p:cNvPr id="542" name="="/>
          <p:cNvSpPr txBox="1"/>
          <p:nvPr/>
        </p:nvSpPr>
        <p:spPr>
          <a:xfrm>
            <a:off x="9083645" y="8156460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543" name="JOIN"/>
          <p:cNvSpPr txBox="1"/>
          <p:nvPr/>
        </p:nvSpPr>
        <p:spPr>
          <a:xfrm>
            <a:off x="2642679" y="949123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544" name="authors"/>
          <p:cNvSpPr/>
          <p:nvPr/>
        </p:nvSpPr>
        <p:spPr>
          <a:xfrm>
            <a:off x="4513058" y="9474725"/>
            <a:ext cx="2884980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authors</a:t>
            </a:r>
          </a:p>
        </p:txBody>
      </p:sp>
      <p:sp>
        <p:nvSpPr>
          <p:cNvPr id="545" name="ON"/>
          <p:cNvSpPr txBox="1"/>
          <p:nvPr/>
        </p:nvSpPr>
        <p:spPr>
          <a:xfrm>
            <a:off x="4500358" y="10826010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546" name="authors PK"/>
          <p:cNvSpPr/>
          <p:nvPr/>
        </p:nvSpPr>
        <p:spPr>
          <a:xfrm>
            <a:off x="12716312" y="10751080"/>
            <a:ext cx="2939362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authors PK</a:t>
            </a:r>
          </a:p>
        </p:txBody>
      </p:sp>
      <p:sp>
        <p:nvSpPr>
          <p:cNvPr id="547" name="book_author_mapping FK"/>
          <p:cNvSpPr/>
          <p:nvPr/>
        </p:nvSpPr>
        <p:spPr>
          <a:xfrm>
            <a:off x="5881942" y="10751080"/>
            <a:ext cx="5600114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 FK</a:t>
            </a:r>
          </a:p>
        </p:txBody>
      </p:sp>
      <p:sp>
        <p:nvSpPr>
          <p:cNvPr id="548" name="="/>
          <p:cNvSpPr txBox="1"/>
          <p:nvPr/>
        </p:nvSpPr>
        <p:spPr>
          <a:xfrm>
            <a:off x="11886136" y="10826010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10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6"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4"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41" grpId="11"/>
      <p:bldP build="whole" bldLvl="1" animBg="1" rev="0" advAuto="0" spid="535" grpId="4"/>
      <p:bldP build="whole" bldLvl="1" animBg="1" rev="0" advAuto="0" spid="538" grpId="7"/>
      <p:bldP build="whole" bldLvl="1" animBg="1" rev="0" advAuto="0" spid="537" grpId="6"/>
      <p:bldP build="whole" bldLvl="1" animBg="1" rev="0" advAuto="0" spid="545" grpId="14"/>
      <p:bldP build="whole" bldLvl="1" animBg="1" rev="0" advAuto="0" spid="543" grpId="12"/>
      <p:bldP build="whole" bldLvl="1" animBg="1" rev="0" advAuto="0" spid="534" grpId="3"/>
      <p:bldP build="whole" bldLvl="1" animBg="1" rev="0" advAuto="0" spid="532" grpId="1"/>
      <p:bldP build="whole" bldLvl="1" animBg="1" rev="0" advAuto="0" spid="533" grpId="2"/>
      <p:bldP build="whole" bldLvl="1" animBg="1" rev="0" advAuto="0" spid="540" grpId="9"/>
      <p:bldP build="whole" bldLvl="1" animBg="1" rev="0" advAuto="0" spid="536" grpId="5"/>
      <p:bldP build="whole" bldLvl="1" animBg="1" rev="0" advAuto="0" spid="544" grpId="13"/>
      <p:bldP build="whole" bldLvl="1" animBg="1" rev="0" advAuto="0" spid="548" grpId="16"/>
      <p:bldP build="whole" bldLvl="1" animBg="1" rev="0" advAuto="0" spid="546" grpId="17"/>
      <p:bldP build="whole" bldLvl="1" animBg="1" rev="0" advAuto="0" spid="539" grpId="8"/>
      <p:bldP build="whole" bldLvl="1" animBg="1" rev="0" advAuto="0" spid="547" grpId="15"/>
      <p:bldP build="whole" bldLvl="1" animBg="1" rev="0" advAuto="0" spid="542" grpId="1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Query"/>
          <p:cNvSpPr txBox="1"/>
          <p:nvPr/>
        </p:nvSpPr>
        <p:spPr>
          <a:xfrm>
            <a:off x="673100" y="711199"/>
            <a:ext cx="144829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Query</a:t>
            </a:r>
          </a:p>
        </p:txBody>
      </p:sp>
      <p:sp>
        <p:nvSpPr>
          <p:cNvPr id="551" name="Line"/>
          <p:cNvSpPr/>
          <p:nvPr/>
        </p:nvSpPr>
        <p:spPr>
          <a:xfrm>
            <a:off x="515235" y="1666301"/>
            <a:ext cx="7855131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2" name="SELECT"/>
          <p:cNvSpPr txBox="1"/>
          <p:nvPr/>
        </p:nvSpPr>
        <p:spPr>
          <a:xfrm>
            <a:off x="2662571" y="3058608"/>
            <a:ext cx="1897758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SELECT</a:t>
            </a:r>
          </a:p>
        </p:txBody>
      </p:sp>
      <p:sp>
        <p:nvSpPr>
          <p:cNvPr id="553" name="b.book_id, b.title, b.isbn"/>
          <p:cNvSpPr/>
          <p:nvPr/>
        </p:nvSpPr>
        <p:spPr>
          <a:xfrm>
            <a:off x="4516628" y="4135625"/>
            <a:ext cx="513782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b.book_id, b.title, b.isbn</a:t>
            </a:r>
          </a:p>
        </p:txBody>
      </p:sp>
      <p:sp>
        <p:nvSpPr>
          <p:cNvPr id="554" name="a.author_id, a.first_name, a.last_name"/>
          <p:cNvSpPr/>
          <p:nvPr/>
        </p:nvSpPr>
        <p:spPr>
          <a:xfrm>
            <a:off x="10232649" y="4135625"/>
            <a:ext cx="8097972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a.author_id, a.first_name, a.last_name</a:t>
            </a:r>
          </a:p>
        </p:txBody>
      </p:sp>
      <p:sp>
        <p:nvSpPr>
          <p:cNvPr id="555" name="FROM"/>
          <p:cNvSpPr txBox="1"/>
          <p:nvPr/>
        </p:nvSpPr>
        <p:spPr>
          <a:xfrm>
            <a:off x="2662571" y="5486910"/>
            <a:ext cx="149939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FROM</a:t>
            </a:r>
          </a:p>
        </p:txBody>
      </p:sp>
      <p:sp>
        <p:nvSpPr>
          <p:cNvPr id="556" name="books"/>
          <p:cNvSpPr/>
          <p:nvPr/>
        </p:nvSpPr>
        <p:spPr>
          <a:xfrm>
            <a:off x="4532950" y="5470399"/>
            <a:ext cx="2939362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books</a:t>
            </a:r>
          </a:p>
        </p:txBody>
      </p:sp>
      <p:sp>
        <p:nvSpPr>
          <p:cNvPr id="557" name="JOIN"/>
          <p:cNvSpPr txBox="1"/>
          <p:nvPr/>
        </p:nvSpPr>
        <p:spPr>
          <a:xfrm>
            <a:off x="2662571" y="6821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558" name="book_author_mapping"/>
          <p:cNvSpPr/>
          <p:nvPr/>
        </p:nvSpPr>
        <p:spPr>
          <a:xfrm>
            <a:off x="4532950" y="6805175"/>
            <a:ext cx="5137826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</a:t>
            </a:r>
          </a:p>
        </p:txBody>
      </p:sp>
      <p:sp>
        <p:nvSpPr>
          <p:cNvPr id="559" name="ON"/>
          <p:cNvSpPr txBox="1"/>
          <p:nvPr/>
        </p:nvSpPr>
        <p:spPr>
          <a:xfrm>
            <a:off x="4520250" y="8156460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560" name="b.book_id"/>
          <p:cNvSpPr/>
          <p:nvPr/>
        </p:nvSpPr>
        <p:spPr>
          <a:xfrm>
            <a:off x="5916688" y="8139950"/>
            <a:ext cx="293936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b.book_id</a:t>
            </a:r>
          </a:p>
        </p:txBody>
      </p:sp>
      <p:sp>
        <p:nvSpPr>
          <p:cNvPr id="561" name="bam.book_id"/>
          <p:cNvSpPr/>
          <p:nvPr/>
        </p:nvSpPr>
        <p:spPr>
          <a:xfrm>
            <a:off x="9737335" y="8139950"/>
            <a:ext cx="376282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bam.book_id</a:t>
            </a:r>
          </a:p>
        </p:txBody>
      </p:sp>
      <p:sp>
        <p:nvSpPr>
          <p:cNvPr id="562" name="="/>
          <p:cNvSpPr txBox="1"/>
          <p:nvPr/>
        </p:nvSpPr>
        <p:spPr>
          <a:xfrm>
            <a:off x="9083645" y="8156460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563" name="JOIN"/>
          <p:cNvSpPr txBox="1"/>
          <p:nvPr/>
        </p:nvSpPr>
        <p:spPr>
          <a:xfrm>
            <a:off x="2642679" y="949123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564" name="authors"/>
          <p:cNvSpPr/>
          <p:nvPr/>
        </p:nvSpPr>
        <p:spPr>
          <a:xfrm>
            <a:off x="4513058" y="9474725"/>
            <a:ext cx="2884980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authors</a:t>
            </a:r>
          </a:p>
        </p:txBody>
      </p:sp>
      <p:sp>
        <p:nvSpPr>
          <p:cNvPr id="565" name="ON"/>
          <p:cNvSpPr txBox="1"/>
          <p:nvPr/>
        </p:nvSpPr>
        <p:spPr>
          <a:xfrm>
            <a:off x="4500358" y="10826010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566" name="a.author_id"/>
          <p:cNvSpPr/>
          <p:nvPr/>
        </p:nvSpPr>
        <p:spPr>
          <a:xfrm>
            <a:off x="10557312" y="10751080"/>
            <a:ext cx="2939362" cy="744222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a.author_id</a:t>
            </a:r>
          </a:p>
        </p:txBody>
      </p:sp>
      <p:sp>
        <p:nvSpPr>
          <p:cNvPr id="567" name="bam.author_id"/>
          <p:cNvSpPr/>
          <p:nvPr/>
        </p:nvSpPr>
        <p:spPr>
          <a:xfrm>
            <a:off x="5881942" y="10751080"/>
            <a:ext cx="3605156" cy="744222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bam.author_id</a:t>
            </a:r>
          </a:p>
        </p:txBody>
      </p:sp>
      <p:sp>
        <p:nvSpPr>
          <p:cNvPr id="568" name="="/>
          <p:cNvSpPr txBox="1"/>
          <p:nvPr/>
        </p:nvSpPr>
        <p:spPr>
          <a:xfrm>
            <a:off x="9790636" y="10826010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569" name="b"/>
          <p:cNvSpPr txBox="1"/>
          <p:nvPr/>
        </p:nvSpPr>
        <p:spPr>
          <a:xfrm>
            <a:off x="7999631" y="5486910"/>
            <a:ext cx="40029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</a:t>
            </a:r>
          </a:p>
        </p:txBody>
      </p:sp>
      <p:sp>
        <p:nvSpPr>
          <p:cNvPr id="570" name="bam"/>
          <p:cNvSpPr txBox="1"/>
          <p:nvPr/>
        </p:nvSpPr>
        <p:spPr>
          <a:xfrm>
            <a:off x="10188605" y="6792475"/>
            <a:ext cx="107275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bam</a:t>
            </a:r>
          </a:p>
        </p:txBody>
      </p:sp>
      <p:sp>
        <p:nvSpPr>
          <p:cNvPr id="571" name="a"/>
          <p:cNvSpPr txBox="1"/>
          <p:nvPr/>
        </p:nvSpPr>
        <p:spPr>
          <a:xfrm>
            <a:off x="7915866" y="9462025"/>
            <a:ext cx="37400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roup"/>
          <p:cNvGrpSpPr/>
          <p:nvPr/>
        </p:nvGrpSpPr>
        <p:grpSpPr>
          <a:xfrm>
            <a:off x="8565610" y="6401413"/>
            <a:ext cx="4896391" cy="2405424"/>
            <a:chOff x="689437" y="654049"/>
            <a:chExt cx="4896389" cy="2405423"/>
          </a:xfrm>
        </p:grpSpPr>
        <p:sp>
          <p:nvSpPr>
            <p:cNvPr id="573" name="Group"/>
            <p:cNvSpPr/>
            <p:nvPr/>
          </p:nvSpPr>
          <p:spPr>
            <a:xfrm>
              <a:off x="689437" y="178947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5000"/>
              </a:pPr>
              <a:r>
                <a:rPr>
                  <a:solidFill>
                    <a:srgbClr val="34A3C5"/>
                  </a:solidFill>
                </a:rPr>
                <a:t>getAllBooksWithAuthors</a:t>
              </a:r>
              <a:r>
                <a:t>( )</a:t>
              </a:r>
            </a:p>
          </p:txBody>
        </p:sp>
        <p:sp>
          <p:nvSpPr>
            <p:cNvPr id="574" name="Now let’s implement"/>
            <p:cNvSpPr/>
            <p:nvPr/>
          </p:nvSpPr>
          <p:spPr>
            <a:xfrm>
              <a:off x="4315827" y="65404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8000"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>
                <a:defRPr>
                  <a:solidFill>
                    <a:srgbClr val="34A3C5"/>
                  </a:solidFill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Now let’s implement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Let’s Build User and LibraryCard Model"/>
          <p:cNvSpPr txBox="1"/>
          <p:nvPr/>
        </p:nvSpPr>
        <p:spPr>
          <a:xfrm>
            <a:off x="6310203" y="5600699"/>
            <a:ext cx="11763595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8000">
                <a:solidFill>
                  <a:srgbClr val="34A3C5"/>
                </a:solidFill>
                <a:latin typeface="SF Pro Light"/>
                <a:ea typeface="SF Pro Light"/>
                <a:cs typeface="SF Pro Light"/>
                <a:sym typeface="SF Pro Light"/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Let’s Build</a:t>
            </a:r>
            <a:b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</a:b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User</a:t>
            </a: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 and </a:t>
            </a: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LibraryCard</a:t>
            </a: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 </a:t>
            </a:r>
            <a:r>
              <a:t>Model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roup"/>
          <p:cNvGrpSpPr/>
          <p:nvPr/>
        </p:nvGrpSpPr>
        <p:grpSpPr>
          <a:xfrm>
            <a:off x="6064319" y="5634690"/>
            <a:ext cx="12255362" cy="2446620"/>
            <a:chOff x="0" y="0"/>
            <a:chExt cx="12255360" cy="2446619"/>
          </a:xfrm>
        </p:grpSpPr>
        <p:sp>
          <p:nvSpPr>
            <p:cNvPr id="579" name="The UserDAO"/>
            <p:cNvSpPr txBox="1"/>
            <p:nvPr/>
          </p:nvSpPr>
          <p:spPr>
            <a:xfrm>
              <a:off x="3116043" y="0"/>
              <a:ext cx="6023274" cy="1308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>
                <a:defRPr sz="8000">
                  <a:solidFill>
                    <a:srgbClr val="34A3C5"/>
                  </a:solidFill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The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User</a:t>
              </a:r>
              <a:r>
                <a:t>DAO</a:t>
              </a:r>
            </a:p>
          </p:txBody>
        </p:sp>
        <p:sp>
          <p:nvSpPr>
            <p:cNvPr id="580" name="When we fetch user from the database, we also want to fetch their card details in a single query using a JOIN (One-to-One relationship)."/>
            <p:cNvSpPr txBox="1"/>
            <p:nvPr/>
          </p:nvSpPr>
          <p:spPr>
            <a:xfrm>
              <a:off x="0" y="1434048"/>
              <a:ext cx="12255361" cy="10125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i="1" sz="27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When we fetch user from the database, we also want to fetch their card details</a:t>
              </a:r>
              <a:br/>
              <a:r>
                <a:t>in a single query using a JOIN (One-to-One relationship).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Compressed Query"/>
          <p:cNvSpPr txBox="1"/>
          <p:nvPr/>
        </p:nvSpPr>
        <p:spPr>
          <a:xfrm>
            <a:off x="673100" y="711199"/>
            <a:ext cx="432812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Compressed Query</a:t>
            </a:r>
          </a:p>
        </p:txBody>
      </p:sp>
      <p:sp>
        <p:nvSpPr>
          <p:cNvPr id="584" name="Line"/>
          <p:cNvSpPr/>
          <p:nvPr/>
        </p:nvSpPr>
        <p:spPr>
          <a:xfrm>
            <a:off x="515235" y="1666301"/>
            <a:ext cx="7855131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85" name="SELECT"/>
          <p:cNvSpPr txBox="1"/>
          <p:nvPr/>
        </p:nvSpPr>
        <p:spPr>
          <a:xfrm>
            <a:off x="2662571" y="3058608"/>
            <a:ext cx="1897758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SELECT</a:t>
            </a:r>
          </a:p>
        </p:txBody>
      </p:sp>
      <p:sp>
        <p:nvSpPr>
          <p:cNvPr id="586" name="user"/>
          <p:cNvSpPr/>
          <p:nvPr/>
        </p:nvSpPr>
        <p:spPr>
          <a:xfrm>
            <a:off x="4532950" y="4135624"/>
            <a:ext cx="1872358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587" name="library_card"/>
          <p:cNvSpPr/>
          <p:nvPr/>
        </p:nvSpPr>
        <p:spPr>
          <a:xfrm>
            <a:off x="6739383" y="4135624"/>
            <a:ext cx="293936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</a:t>
            </a:r>
          </a:p>
        </p:txBody>
      </p:sp>
      <p:sp>
        <p:nvSpPr>
          <p:cNvPr id="588" name="FROM"/>
          <p:cNvSpPr txBox="1"/>
          <p:nvPr/>
        </p:nvSpPr>
        <p:spPr>
          <a:xfrm>
            <a:off x="2662571" y="5486910"/>
            <a:ext cx="149939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FROM</a:t>
            </a:r>
          </a:p>
        </p:txBody>
      </p:sp>
      <p:sp>
        <p:nvSpPr>
          <p:cNvPr id="589" name="users"/>
          <p:cNvSpPr/>
          <p:nvPr/>
        </p:nvSpPr>
        <p:spPr>
          <a:xfrm>
            <a:off x="4532950" y="5470399"/>
            <a:ext cx="2041181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590" name="JOIN"/>
          <p:cNvSpPr txBox="1"/>
          <p:nvPr/>
        </p:nvSpPr>
        <p:spPr>
          <a:xfrm>
            <a:off x="2662571" y="6821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591" name="library_cards"/>
          <p:cNvSpPr/>
          <p:nvPr/>
        </p:nvSpPr>
        <p:spPr>
          <a:xfrm>
            <a:off x="4532950" y="6805175"/>
            <a:ext cx="3216378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library_cards</a:t>
            </a:r>
          </a:p>
        </p:txBody>
      </p:sp>
      <p:sp>
        <p:nvSpPr>
          <p:cNvPr id="592" name="ON"/>
          <p:cNvSpPr txBox="1"/>
          <p:nvPr/>
        </p:nvSpPr>
        <p:spPr>
          <a:xfrm>
            <a:off x="4520250" y="8156460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593" name="users FK"/>
          <p:cNvSpPr/>
          <p:nvPr/>
        </p:nvSpPr>
        <p:spPr>
          <a:xfrm>
            <a:off x="5916688" y="8139950"/>
            <a:ext cx="293936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users FK</a:t>
            </a:r>
          </a:p>
        </p:txBody>
      </p:sp>
      <p:sp>
        <p:nvSpPr>
          <p:cNvPr id="594" name="library_cards PK"/>
          <p:cNvSpPr/>
          <p:nvPr/>
        </p:nvSpPr>
        <p:spPr>
          <a:xfrm>
            <a:off x="9737335" y="8139950"/>
            <a:ext cx="400279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library_cards PK</a:t>
            </a:r>
          </a:p>
        </p:txBody>
      </p:sp>
      <p:sp>
        <p:nvSpPr>
          <p:cNvPr id="595" name="="/>
          <p:cNvSpPr txBox="1"/>
          <p:nvPr/>
        </p:nvSpPr>
        <p:spPr>
          <a:xfrm>
            <a:off x="9083645" y="8156460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596" name="WHERE"/>
          <p:cNvSpPr txBox="1"/>
          <p:nvPr/>
        </p:nvSpPr>
        <p:spPr>
          <a:xfrm>
            <a:off x="2642679" y="9491235"/>
            <a:ext cx="182780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WHERE</a:t>
            </a:r>
          </a:p>
        </p:txBody>
      </p:sp>
      <p:sp>
        <p:nvSpPr>
          <p:cNvPr id="597" name="user_id"/>
          <p:cNvSpPr/>
          <p:nvPr/>
        </p:nvSpPr>
        <p:spPr>
          <a:xfrm>
            <a:off x="4671457" y="10424655"/>
            <a:ext cx="2351988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user_id </a:t>
            </a:r>
          </a:p>
        </p:txBody>
      </p:sp>
      <p:sp>
        <p:nvSpPr>
          <p:cNvPr id="598" name="="/>
          <p:cNvSpPr txBox="1"/>
          <p:nvPr/>
        </p:nvSpPr>
        <p:spPr>
          <a:xfrm>
            <a:off x="7223349" y="10441165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599" name="?"/>
          <p:cNvSpPr/>
          <p:nvPr/>
        </p:nvSpPr>
        <p:spPr>
          <a:xfrm>
            <a:off x="7893429" y="10424655"/>
            <a:ext cx="142289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6"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4"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93" grpId="9"/>
      <p:bldP build="whole" bldLvl="1" animBg="1" rev="0" advAuto="0" spid="592" grpId="8"/>
      <p:bldP build="whole" bldLvl="1" animBg="1" rev="0" advAuto="0" spid="598" grpId="14"/>
      <p:bldP build="whole" bldLvl="1" animBg="1" rev="0" advAuto="0" spid="597" grpId="13"/>
      <p:bldP build="whole" bldLvl="1" animBg="1" rev="0" advAuto="0" spid="586" grpId="2"/>
      <p:bldP build="whole" bldLvl="1" animBg="1" rev="0" advAuto="0" spid="585" grpId="1"/>
      <p:bldP build="whole" bldLvl="1" animBg="1" rev="0" advAuto="0" spid="594" grpId="11"/>
      <p:bldP build="whole" bldLvl="1" animBg="1" rev="0" advAuto="0" spid="589" grpId="5"/>
      <p:bldP build="whole" bldLvl="1" animBg="1" rev="0" advAuto="0" spid="588" grpId="4"/>
      <p:bldP build="whole" bldLvl="1" animBg="1" rev="0" advAuto="0" spid="596" grpId="12"/>
      <p:bldP build="whole" bldLvl="1" animBg="1" rev="0" advAuto="0" spid="587" grpId="3"/>
      <p:bldP build="whole" bldLvl="1" animBg="1" rev="0" advAuto="0" spid="595" grpId="10"/>
      <p:bldP build="whole" bldLvl="1" animBg="1" rev="0" advAuto="0" spid="599" grpId="15"/>
      <p:bldP build="whole" bldLvl="1" animBg="1" rev="0" advAuto="0" spid="591" grpId="7"/>
      <p:bldP build="whole" bldLvl="1" animBg="1" rev="0" advAuto="0" spid="590" grpId="6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Query"/>
          <p:cNvSpPr txBox="1"/>
          <p:nvPr/>
        </p:nvSpPr>
        <p:spPr>
          <a:xfrm>
            <a:off x="673100" y="711199"/>
            <a:ext cx="144829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Query</a:t>
            </a:r>
          </a:p>
        </p:txBody>
      </p:sp>
      <p:sp>
        <p:nvSpPr>
          <p:cNvPr id="602" name="Line"/>
          <p:cNvSpPr/>
          <p:nvPr/>
        </p:nvSpPr>
        <p:spPr>
          <a:xfrm>
            <a:off x="515235" y="1666301"/>
            <a:ext cx="7855131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3" name="SELECT"/>
          <p:cNvSpPr txBox="1"/>
          <p:nvPr/>
        </p:nvSpPr>
        <p:spPr>
          <a:xfrm>
            <a:off x="2662571" y="3058608"/>
            <a:ext cx="1897758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SELECT</a:t>
            </a:r>
          </a:p>
        </p:txBody>
      </p:sp>
      <p:sp>
        <p:nvSpPr>
          <p:cNvPr id="604" name="u.user_id, u.first_name, u.last_name, u.email"/>
          <p:cNvSpPr/>
          <p:nvPr/>
        </p:nvSpPr>
        <p:spPr>
          <a:xfrm>
            <a:off x="4532950" y="4135624"/>
            <a:ext cx="861821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u.user_id, u.first_name, u.last_name, u.email</a:t>
            </a:r>
          </a:p>
        </p:txBody>
      </p:sp>
      <p:sp>
        <p:nvSpPr>
          <p:cNvPr id="605" name="lc.card_id, lc.card_number, lc.issue_date"/>
          <p:cNvSpPr/>
          <p:nvPr/>
        </p:nvSpPr>
        <p:spPr>
          <a:xfrm>
            <a:off x="4532950" y="5405624"/>
            <a:ext cx="8174414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lc.card_id, lc.card_number, lc.issue_date</a:t>
            </a:r>
          </a:p>
        </p:txBody>
      </p:sp>
      <p:sp>
        <p:nvSpPr>
          <p:cNvPr id="606" name="FROM"/>
          <p:cNvSpPr txBox="1"/>
          <p:nvPr/>
        </p:nvSpPr>
        <p:spPr>
          <a:xfrm>
            <a:off x="2662571" y="6756910"/>
            <a:ext cx="149939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FROM</a:t>
            </a:r>
          </a:p>
        </p:txBody>
      </p:sp>
      <p:sp>
        <p:nvSpPr>
          <p:cNvPr id="607" name="users"/>
          <p:cNvSpPr/>
          <p:nvPr/>
        </p:nvSpPr>
        <p:spPr>
          <a:xfrm>
            <a:off x="4532950" y="6740399"/>
            <a:ext cx="2070509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608" name="JOIN"/>
          <p:cNvSpPr txBox="1"/>
          <p:nvPr/>
        </p:nvSpPr>
        <p:spPr>
          <a:xfrm>
            <a:off x="2662571" y="8091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609" name="library_cards"/>
          <p:cNvSpPr/>
          <p:nvPr/>
        </p:nvSpPr>
        <p:spPr>
          <a:xfrm>
            <a:off x="4532950" y="8075175"/>
            <a:ext cx="3216378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library_cards</a:t>
            </a:r>
          </a:p>
        </p:txBody>
      </p:sp>
      <p:sp>
        <p:nvSpPr>
          <p:cNvPr id="610" name="ON"/>
          <p:cNvSpPr txBox="1"/>
          <p:nvPr/>
        </p:nvSpPr>
        <p:spPr>
          <a:xfrm>
            <a:off x="4520250" y="9426460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611" name="u.card_id"/>
          <p:cNvSpPr/>
          <p:nvPr/>
        </p:nvSpPr>
        <p:spPr>
          <a:xfrm>
            <a:off x="5916688" y="9409950"/>
            <a:ext cx="293936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u.card_id</a:t>
            </a:r>
          </a:p>
        </p:txBody>
      </p:sp>
      <p:sp>
        <p:nvSpPr>
          <p:cNvPr id="612" name="lc.card_id"/>
          <p:cNvSpPr/>
          <p:nvPr/>
        </p:nvSpPr>
        <p:spPr>
          <a:xfrm>
            <a:off x="9737335" y="9409950"/>
            <a:ext cx="293936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lc.card_id</a:t>
            </a:r>
          </a:p>
        </p:txBody>
      </p:sp>
      <p:sp>
        <p:nvSpPr>
          <p:cNvPr id="613" name="="/>
          <p:cNvSpPr txBox="1"/>
          <p:nvPr/>
        </p:nvSpPr>
        <p:spPr>
          <a:xfrm>
            <a:off x="9083645" y="9426460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614" name="WHERE"/>
          <p:cNvSpPr txBox="1"/>
          <p:nvPr/>
        </p:nvSpPr>
        <p:spPr>
          <a:xfrm>
            <a:off x="2642679" y="10761235"/>
            <a:ext cx="182780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WHERE</a:t>
            </a:r>
          </a:p>
        </p:txBody>
      </p:sp>
      <p:sp>
        <p:nvSpPr>
          <p:cNvPr id="615" name="u.user_id"/>
          <p:cNvSpPr/>
          <p:nvPr/>
        </p:nvSpPr>
        <p:spPr>
          <a:xfrm>
            <a:off x="4671457" y="11694655"/>
            <a:ext cx="293936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u.user_id </a:t>
            </a:r>
          </a:p>
        </p:txBody>
      </p:sp>
      <p:sp>
        <p:nvSpPr>
          <p:cNvPr id="616" name="="/>
          <p:cNvSpPr txBox="1"/>
          <p:nvPr/>
        </p:nvSpPr>
        <p:spPr>
          <a:xfrm>
            <a:off x="7985349" y="11711165"/>
            <a:ext cx="42609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617" name="?"/>
          <p:cNvSpPr/>
          <p:nvPr/>
        </p:nvSpPr>
        <p:spPr>
          <a:xfrm>
            <a:off x="8782429" y="11694655"/>
            <a:ext cx="142289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?</a:t>
            </a:r>
          </a:p>
        </p:txBody>
      </p:sp>
      <p:sp>
        <p:nvSpPr>
          <p:cNvPr id="618" name="u"/>
          <p:cNvSpPr txBox="1"/>
          <p:nvPr/>
        </p:nvSpPr>
        <p:spPr>
          <a:xfrm>
            <a:off x="6983631" y="6756910"/>
            <a:ext cx="38665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</a:t>
            </a:r>
          </a:p>
        </p:txBody>
      </p:sp>
      <p:sp>
        <p:nvSpPr>
          <p:cNvPr id="619" name="lc"/>
          <p:cNvSpPr txBox="1"/>
          <p:nvPr/>
        </p:nvSpPr>
        <p:spPr>
          <a:xfrm>
            <a:off x="8224558" y="8062475"/>
            <a:ext cx="48190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roup"/>
          <p:cNvGrpSpPr/>
          <p:nvPr/>
        </p:nvGrpSpPr>
        <p:grpSpPr>
          <a:xfrm>
            <a:off x="8595841" y="6401413"/>
            <a:ext cx="4866160" cy="2405424"/>
            <a:chOff x="719668" y="654049"/>
            <a:chExt cx="4866158" cy="2405423"/>
          </a:xfrm>
        </p:grpSpPr>
        <p:sp>
          <p:nvSpPr>
            <p:cNvPr id="621" name="Group"/>
            <p:cNvSpPr/>
            <p:nvPr/>
          </p:nvSpPr>
          <p:spPr>
            <a:xfrm>
              <a:off x="719668" y="178947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5000"/>
              </a:pPr>
              <a:r>
                <a:rPr>
                  <a:solidFill>
                    <a:srgbClr val="34A3C5"/>
                  </a:solidFill>
                </a:rPr>
                <a:t>getUserWithCard</a:t>
              </a:r>
              <a:r>
                <a:t>( userId )</a:t>
              </a:r>
            </a:p>
          </p:txBody>
        </p:sp>
        <p:sp>
          <p:nvSpPr>
            <p:cNvPr id="622" name="Now let’s implement"/>
            <p:cNvSpPr/>
            <p:nvPr/>
          </p:nvSpPr>
          <p:spPr>
            <a:xfrm>
              <a:off x="4315827" y="65404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8000"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>
                <a:defRPr>
                  <a:solidFill>
                    <a:srgbClr val="34A3C5"/>
                  </a:solidFill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Now let’s implement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The BorrowedBooks Model"/>
          <p:cNvSpPr txBox="1"/>
          <p:nvPr/>
        </p:nvSpPr>
        <p:spPr>
          <a:xfrm>
            <a:off x="6506920" y="6203950"/>
            <a:ext cx="11370160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8000">
                <a:solidFill>
                  <a:srgbClr val="34A3C5"/>
                </a:solidFill>
                <a:latin typeface="SF Pro Light"/>
                <a:ea typeface="SF Pro Light"/>
                <a:cs typeface="SF Pro Light"/>
                <a:sym typeface="SF Pro Light"/>
              </a:defRPr>
            </a:pP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The </a:t>
            </a:r>
            <a:r>
              <a:rPr>
                <a:solidFill>
                  <a:schemeClr val="accent4">
                    <a:hueOff val="-297102"/>
                    <a:satOff val="16978"/>
                    <a:lumOff val="-20883"/>
                  </a:schemeClr>
                </a:solidFill>
              </a:rPr>
              <a:t>BorrowedBooks</a:t>
            </a:r>
            <a:r>
              <a:rPr>
                <a:solidFill>
                  <a:schemeClr val="accent1">
                    <a:satOff val="-9155"/>
                    <a:lumOff val="-32673"/>
                  </a:schemeClr>
                </a:solidFill>
              </a:rPr>
              <a:t> </a:t>
            </a:r>
            <a:r>
              <a:t>Model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roup"/>
          <p:cNvGrpSpPr/>
          <p:nvPr/>
        </p:nvGrpSpPr>
        <p:grpSpPr>
          <a:xfrm>
            <a:off x="4824393" y="5665547"/>
            <a:ext cx="14735214" cy="2384906"/>
            <a:chOff x="0" y="0"/>
            <a:chExt cx="14735213" cy="2384904"/>
          </a:xfrm>
        </p:grpSpPr>
        <p:sp>
          <p:nvSpPr>
            <p:cNvPr id="627" name="The BorrowedBooksDAO"/>
            <p:cNvSpPr txBox="1"/>
            <p:nvPr/>
          </p:nvSpPr>
          <p:spPr>
            <a:xfrm>
              <a:off x="2099297" y="0"/>
              <a:ext cx="10536619" cy="1308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>
                <a:defRPr sz="8000">
                  <a:solidFill>
                    <a:srgbClr val="34A3C5"/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The </a:t>
              </a:r>
              <a:r>
                <a:rPr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</a:rPr>
                <a:t>BorrowedBooks</a:t>
              </a:r>
              <a:r>
                <a:t>DAO</a:t>
              </a:r>
            </a:p>
          </p:txBody>
        </p:sp>
        <p:sp>
          <p:nvSpPr>
            <p:cNvPr id="628" name="Since a Book can have multiple authors, a truly complete “Get All Borrowed Books” query might actually involve four or even five tables if we want the authors too !"/>
            <p:cNvSpPr txBox="1"/>
            <p:nvPr/>
          </p:nvSpPr>
          <p:spPr>
            <a:xfrm>
              <a:off x="0" y="1372333"/>
              <a:ext cx="14735214" cy="10125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i="1" sz="27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Since a Book can have multiple authors, a truly complete “Get All Borrowed Books” query might</a:t>
              </a:r>
              <a:br/>
              <a:r>
                <a:t>actually involve four or even five tables if we want the authors too !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Compressed Query"/>
          <p:cNvSpPr txBox="1"/>
          <p:nvPr/>
        </p:nvSpPr>
        <p:spPr>
          <a:xfrm>
            <a:off x="673100" y="711199"/>
            <a:ext cx="432812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Compressed Query</a:t>
            </a:r>
          </a:p>
        </p:txBody>
      </p:sp>
      <p:sp>
        <p:nvSpPr>
          <p:cNvPr id="632" name="Line"/>
          <p:cNvSpPr/>
          <p:nvPr/>
        </p:nvSpPr>
        <p:spPr>
          <a:xfrm>
            <a:off x="515235" y="1666301"/>
            <a:ext cx="7855131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33" name="SELECT"/>
          <p:cNvSpPr txBox="1"/>
          <p:nvPr/>
        </p:nvSpPr>
        <p:spPr>
          <a:xfrm>
            <a:off x="2662571" y="2550608"/>
            <a:ext cx="1897758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SELECT</a:t>
            </a:r>
          </a:p>
        </p:txBody>
      </p:sp>
      <p:sp>
        <p:nvSpPr>
          <p:cNvPr id="634" name="borrow"/>
          <p:cNvSpPr/>
          <p:nvPr/>
        </p:nvSpPr>
        <p:spPr>
          <a:xfrm>
            <a:off x="4532950" y="3627624"/>
            <a:ext cx="235198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borrow</a:t>
            </a:r>
          </a:p>
        </p:txBody>
      </p:sp>
      <p:sp>
        <p:nvSpPr>
          <p:cNvPr id="635" name="user"/>
          <p:cNvSpPr/>
          <p:nvPr/>
        </p:nvSpPr>
        <p:spPr>
          <a:xfrm>
            <a:off x="7261665" y="3627624"/>
            <a:ext cx="1752434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636" name="FROM"/>
          <p:cNvSpPr txBox="1"/>
          <p:nvPr/>
        </p:nvSpPr>
        <p:spPr>
          <a:xfrm>
            <a:off x="2662571" y="4978910"/>
            <a:ext cx="149939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FROM</a:t>
            </a:r>
          </a:p>
        </p:txBody>
      </p:sp>
      <p:sp>
        <p:nvSpPr>
          <p:cNvPr id="637" name="borrowed_books"/>
          <p:cNvSpPr/>
          <p:nvPr/>
        </p:nvSpPr>
        <p:spPr>
          <a:xfrm>
            <a:off x="4532950" y="4962399"/>
            <a:ext cx="3817715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borrowed_books</a:t>
            </a:r>
          </a:p>
        </p:txBody>
      </p:sp>
      <p:sp>
        <p:nvSpPr>
          <p:cNvPr id="638" name="JOIN"/>
          <p:cNvSpPr txBox="1"/>
          <p:nvPr/>
        </p:nvSpPr>
        <p:spPr>
          <a:xfrm>
            <a:off x="2662571" y="6313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639" name="users"/>
          <p:cNvSpPr/>
          <p:nvPr/>
        </p:nvSpPr>
        <p:spPr>
          <a:xfrm>
            <a:off x="4532950" y="6297175"/>
            <a:ext cx="1752434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640" name="ON"/>
          <p:cNvSpPr txBox="1"/>
          <p:nvPr/>
        </p:nvSpPr>
        <p:spPr>
          <a:xfrm>
            <a:off x="6739944" y="6342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641" name="user PK"/>
          <p:cNvSpPr/>
          <p:nvPr/>
        </p:nvSpPr>
        <p:spPr>
          <a:xfrm>
            <a:off x="13228624" y="6297175"/>
            <a:ext cx="293936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 PK</a:t>
            </a:r>
          </a:p>
        </p:txBody>
      </p:sp>
      <p:sp>
        <p:nvSpPr>
          <p:cNvPr id="642" name="borrowed_book FK"/>
          <p:cNvSpPr/>
          <p:nvPr/>
        </p:nvSpPr>
        <p:spPr>
          <a:xfrm>
            <a:off x="8203135" y="6297175"/>
            <a:ext cx="4002796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borrowed_book FK</a:t>
            </a:r>
          </a:p>
        </p:txBody>
      </p:sp>
      <p:sp>
        <p:nvSpPr>
          <p:cNvPr id="643" name="="/>
          <p:cNvSpPr txBox="1"/>
          <p:nvPr/>
        </p:nvSpPr>
        <p:spPr>
          <a:xfrm>
            <a:off x="12504229" y="6313685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644" name="library_card"/>
          <p:cNvSpPr/>
          <p:nvPr/>
        </p:nvSpPr>
        <p:spPr>
          <a:xfrm>
            <a:off x="9397783" y="3627624"/>
            <a:ext cx="293936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</a:t>
            </a:r>
          </a:p>
        </p:txBody>
      </p:sp>
      <p:sp>
        <p:nvSpPr>
          <p:cNvPr id="645" name="book"/>
          <p:cNvSpPr/>
          <p:nvPr/>
        </p:nvSpPr>
        <p:spPr>
          <a:xfrm>
            <a:off x="12720830" y="3627624"/>
            <a:ext cx="1872358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</a:t>
            </a:r>
          </a:p>
        </p:txBody>
      </p:sp>
      <p:sp>
        <p:nvSpPr>
          <p:cNvPr id="646" name="author"/>
          <p:cNvSpPr/>
          <p:nvPr/>
        </p:nvSpPr>
        <p:spPr>
          <a:xfrm>
            <a:off x="14976873" y="3627624"/>
            <a:ext cx="1872358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</a:t>
            </a:r>
          </a:p>
        </p:txBody>
      </p:sp>
      <p:sp>
        <p:nvSpPr>
          <p:cNvPr id="647" name="JOIN"/>
          <p:cNvSpPr txBox="1"/>
          <p:nvPr/>
        </p:nvSpPr>
        <p:spPr>
          <a:xfrm>
            <a:off x="2662571" y="7583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648" name="library_cards"/>
          <p:cNvSpPr/>
          <p:nvPr/>
        </p:nvSpPr>
        <p:spPr>
          <a:xfrm>
            <a:off x="4532950" y="7567175"/>
            <a:ext cx="308616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library_cards</a:t>
            </a:r>
          </a:p>
        </p:txBody>
      </p:sp>
      <p:sp>
        <p:nvSpPr>
          <p:cNvPr id="649" name="ON"/>
          <p:cNvSpPr txBox="1"/>
          <p:nvPr/>
        </p:nvSpPr>
        <p:spPr>
          <a:xfrm>
            <a:off x="8136945" y="7612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650" name="library_card PK"/>
          <p:cNvSpPr/>
          <p:nvPr/>
        </p:nvSpPr>
        <p:spPr>
          <a:xfrm>
            <a:off x="12923825" y="7567175"/>
            <a:ext cx="3817715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 PK</a:t>
            </a:r>
          </a:p>
        </p:txBody>
      </p:sp>
      <p:sp>
        <p:nvSpPr>
          <p:cNvPr id="651" name="user FK"/>
          <p:cNvSpPr/>
          <p:nvPr/>
        </p:nvSpPr>
        <p:spPr>
          <a:xfrm>
            <a:off x="9600134" y="7567175"/>
            <a:ext cx="233277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 FK</a:t>
            </a:r>
          </a:p>
        </p:txBody>
      </p:sp>
      <p:sp>
        <p:nvSpPr>
          <p:cNvPr id="652" name="="/>
          <p:cNvSpPr txBox="1"/>
          <p:nvPr/>
        </p:nvSpPr>
        <p:spPr>
          <a:xfrm>
            <a:off x="12199429" y="7583685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653" name="JOIN"/>
          <p:cNvSpPr txBox="1"/>
          <p:nvPr/>
        </p:nvSpPr>
        <p:spPr>
          <a:xfrm>
            <a:off x="2662571" y="8853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654" name="books"/>
          <p:cNvSpPr/>
          <p:nvPr/>
        </p:nvSpPr>
        <p:spPr>
          <a:xfrm>
            <a:off x="4532950" y="8837175"/>
            <a:ext cx="2068190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books</a:t>
            </a:r>
          </a:p>
        </p:txBody>
      </p:sp>
      <p:sp>
        <p:nvSpPr>
          <p:cNvPr id="655" name="ON"/>
          <p:cNvSpPr txBox="1"/>
          <p:nvPr/>
        </p:nvSpPr>
        <p:spPr>
          <a:xfrm>
            <a:off x="6993945" y="8882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656" name="book PK"/>
          <p:cNvSpPr/>
          <p:nvPr/>
        </p:nvSpPr>
        <p:spPr>
          <a:xfrm>
            <a:off x="13431825" y="8837175"/>
            <a:ext cx="235198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 PK</a:t>
            </a:r>
          </a:p>
        </p:txBody>
      </p:sp>
      <p:sp>
        <p:nvSpPr>
          <p:cNvPr id="657" name="borrowed_book FK"/>
          <p:cNvSpPr/>
          <p:nvPr/>
        </p:nvSpPr>
        <p:spPr>
          <a:xfrm>
            <a:off x="8457134" y="8837175"/>
            <a:ext cx="400279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borrowed_book FK</a:t>
            </a:r>
          </a:p>
        </p:txBody>
      </p:sp>
      <p:sp>
        <p:nvSpPr>
          <p:cNvPr id="658" name="="/>
          <p:cNvSpPr txBox="1"/>
          <p:nvPr/>
        </p:nvSpPr>
        <p:spPr>
          <a:xfrm>
            <a:off x="12707429" y="8853685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659" name="LEFT JOIN"/>
          <p:cNvSpPr txBox="1"/>
          <p:nvPr/>
        </p:nvSpPr>
        <p:spPr>
          <a:xfrm>
            <a:off x="2662571" y="10123685"/>
            <a:ext cx="246355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LEFT JOIN</a:t>
            </a:r>
          </a:p>
        </p:txBody>
      </p:sp>
      <p:sp>
        <p:nvSpPr>
          <p:cNvPr id="660" name="book_author_mapping"/>
          <p:cNvSpPr/>
          <p:nvPr/>
        </p:nvSpPr>
        <p:spPr>
          <a:xfrm>
            <a:off x="5675950" y="10107175"/>
            <a:ext cx="5085651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</a:t>
            </a:r>
          </a:p>
        </p:txBody>
      </p:sp>
      <p:sp>
        <p:nvSpPr>
          <p:cNvPr id="661" name="ON"/>
          <p:cNvSpPr txBox="1"/>
          <p:nvPr/>
        </p:nvSpPr>
        <p:spPr>
          <a:xfrm>
            <a:off x="11184945" y="10152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662" name="book PK"/>
          <p:cNvSpPr/>
          <p:nvPr/>
        </p:nvSpPr>
        <p:spPr>
          <a:xfrm>
            <a:off x="19019825" y="10107175"/>
            <a:ext cx="235198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 PK</a:t>
            </a:r>
          </a:p>
        </p:txBody>
      </p:sp>
      <p:sp>
        <p:nvSpPr>
          <p:cNvPr id="663" name="book_author_mapping FK"/>
          <p:cNvSpPr/>
          <p:nvPr/>
        </p:nvSpPr>
        <p:spPr>
          <a:xfrm>
            <a:off x="12648134" y="10107175"/>
            <a:ext cx="5456566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 FK</a:t>
            </a:r>
          </a:p>
        </p:txBody>
      </p:sp>
      <p:sp>
        <p:nvSpPr>
          <p:cNvPr id="664" name="="/>
          <p:cNvSpPr txBox="1"/>
          <p:nvPr/>
        </p:nvSpPr>
        <p:spPr>
          <a:xfrm>
            <a:off x="18295429" y="10123685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665" name="LEFT JOIN"/>
          <p:cNvSpPr txBox="1"/>
          <p:nvPr/>
        </p:nvSpPr>
        <p:spPr>
          <a:xfrm>
            <a:off x="2662571" y="11393685"/>
            <a:ext cx="246355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LEFT JOIN</a:t>
            </a:r>
          </a:p>
        </p:txBody>
      </p:sp>
      <p:sp>
        <p:nvSpPr>
          <p:cNvPr id="666" name="authors"/>
          <p:cNvSpPr/>
          <p:nvPr/>
        </p:nvSpPr>
        <p:spPr>
          <a:xfrm>
            <a:off x="5675950" y="11377175"/>
            <a:ext cx="243815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authors</a:t>
            </a:r>
          </a:p>
        </p:txBody>
      </p:sp>
      <p:sp>
        <p:nvSpPr>
          <p:cNvPr id="667" name="ON"/>
          <p:cNvSpPr txBox="1"/>
          <p:nvPr/>
        </p:nvSpPr>
        <p:spPr>
          <a:xfrm>
            <a:off x="8517945" y="11422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668" name="author PK"/>
          <p:cNvSpPr/>
          <p:nvPr/>
        </p:nvSpPr>
        <p:spPr>
          <a:xfrm>
            <a:off x="16352825" y="11377175"/>
            <a:ext cx="235198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 PK</a:t>
            </a:r>
          </a:p>
        </p:txBody>
      </p:sp>
      <p:sp>
        <p:nvSpPr>
          <p:cNvPr id="669" name="book_author_mapping FK"/>
          <p:cNvSpPr/>
          <p:nvPr/>
        </p:nvSpPr>
        <p:spPr>
          <a:xfrm>
            <a:off x="9981134" y="11377175"/>
            <a:ext cx="5456566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 FK</a:t>
            </a:r>
          </a:p>
        </p:txBody>
      </p:sp>
      <p:sp>
        <p:nvSpPr>
          <p:cNvPr id="670" name="="/>
          <p:cNvSpPr txBox="1"/>
          <p:nvPr/>
        </p:nvSpPr>
        <p:spPr>
          <a:xfrm>
            <a:off x="15628429" y="11393685"/>
            <a:ext cx="42609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6"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4" dur="10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8"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2"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6" dur="10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10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9"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81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3"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1"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Class="entr" nodeType="click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6"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0"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4"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0"/>
                            </p:stCondLst>
                            <p:childTnLst>
                              <p:par>
                                <p:cTn id="106" presetClass="entr" nodeType="after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8"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000"/>
                            </p:stCondLst>
                            <p:childTnLst>
                              <p:par>
                                <p:cTn id="110" presetClass="entr" nodeType="afterEffect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2"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14" presetClass="entr" nodeType="after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6"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Class="entr" nodeType="click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1"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Class="entr" nodeType="afterEffect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5"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Class="entr" nodeType="afterEffect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9"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000"/>
                            </p:stCondLst>
                            <p:childTnLst>
                              <p:par>
                                <p:cTn id="131" presetClass="entr" nodeType="afterEffect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3" dur="10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Class="entr" nodeType="afterEffect" presetID="10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7" dur="10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0"/>
                            </p:stCondLst>
                            <p:childTnLst>
                              <p:par>
                                <p:cTn id="139" presetClass="entr" nodeType="afterEffect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1" dur="1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Class="entr" nodeType="clickEffect" presetID="10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5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6"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Class="entr" nodeType="afterEffect" presetID="10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9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0" dur="10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000"/>
                            </p:stCondLst>
                            <p:childTnLst>
                              <p:par>
                                <p:cTn id="152" presetClass="entr" nodeType="afterEffect" presetID="10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4" dur="10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000"/>
                            </p:stCondLst>
                            <p:childTnLst>
                              <p:par>
                                <p:cTn id="156" presetClass="entr" nodeType="afterEffect" presetID="10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8" dur="1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4000"/>
                            </p:stCondLst>
                            <p:childTnLst>
                              <p:par>
                                <p:cTn id="160" presetClass="entr" nodeType="afterEffect" presetID="10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1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2" dur="10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48" grpId="16"/>
      <p:bldP build="whole" bldLvl="1" animBg="1" rev="0" advAuto="0" spid="659" grpId="27"/>
      <p:bldP build="whole" bldLvl="1" animBg="1" rev="0" advAuto="0" spid="650" grpId="20"/>
      <p:bldP build="whole" bldLvl="1" animBg="1" rev="0" advAuto="0" spid="635" grpId="3"/>
      <p:bldP build="whole" bldLvl="1" animBg="1" rev="0" advAuto="0" spid="658" grpId="25"/>
      <p:bldP build="whole" bldLvl="1" animBg="1" rev="0" advAuto="0" spid="664" grpId="31"/>
      <p:bldP build="whole" bldLvl="1" animBg="1" rev="0" advAuto="0" spid="647" grpId="15"/>
      <p:bldP build="whole" bldLvl="1" animBg="1" rev="0" advAuto="0" spid="657" grpId="24"/>
      <p:bldP build="whole" bldLvl="1" animBg="1" rev="0" advAuto="0" spid="660" grpId="28"/>
      <p:bldP build="whole" bldLvl="1" animBg="1" rev="0" advAuto="0" spid="642" grpId="12"/>
      <p:bldP build="whole" bldLvl="1" animBg="1" rev="0" advAuto="0" spid="636" grpId="7"/>
      <p:bldP build="whole" bldLvl="1" animBg="1" rev="0" advAuto="0" spid="652" grpId="19"/>
      <p:bldP build="whole" bldLvl="1" animBg="1" rev="0" advAuto="0" spid="639" grpId="10"/>
      <p:bldP build="whole" bldLvl="1" animBg="1" rev="0" advAuto="0" spid="644" grpId="4"/>
      <p:bldP build="whole" bldLvl="1" animBg="1" rev="0" advAuto="0" spid="643" grpId="13"/>
      <p:bldP build="whole" bldLvl="1" animBg="1" rev="0" advAuto="0" spid="667" grpId="35"/>
      <p:bldP build="whole" bldLvl="1" animBg="1" rev="0" advAuto="0" spid="634" grpId="2"/>
      <p:bldP build="whole" bldLvl="1" animBg="1" rev="0" advAuto="0" spid="633" grpId="1"/>
      <p:bldP build="whole" bldLvl="1" animBg="1" rev="0" advAuto="0" spid="649" grpId="17"/>
      <p:bldP build="whole" bldLvl="1" animBg="1" rev="0" advAuto="0" spid="651" grpId="18"/>
      <p:bldP build="whole" bldLvl="1" animBg="1" rev="0" advAuto="0" spid="662" grpId="32"/>
      <p:bldP build="whole" bldLvl="1" animBg="1" rev="0" advAuto="0" spid="661" grpId="29"/>
      <p:bldP build="whole" bldLvl="1" animBg="1" rev="0" advAuto="0" spid="669" grpId="36"/>
      <p:bldP build="whole" bldLvl="1" animBg="1" rev="0" advAuto="0" spid="638" grpId="9"/>
      <p:bldP build="whole" bldLvl="1" animBg="1" rev="0" advAuto="0" spid="670" grpId="37"/>
      <p:bldP build="whole" bldLvl="1" animBg="1" rev="0" advAuto="0" spid="656" grpId="26"/>
      <p:bldP build="whole" bldLvl="1" animBg="1" rev="0" advAuto="0" spid="668" grpId="38"/>
      <p:bldP build="whole" bldLvl="1" animBg="1" rev="0" advAuto="0" spid="645" grpId="5"/>
      <p:bldP build="whole" bldLvl="1" animBg="1" rev="0" advAuto="0" spid="653" grpId="21"/>
      <p:bldP build="whole" bldLvl="1" animBg="1" rev="0" advAuto="0" spid="637" grpId="8"/>
      <p:bldP build="whole" bldLvl="1" animBg="1" rev="0" advAuto="0" spid="646" grpId="6"/>
      <p:bldP build="whole" bldLvl="1" animBg="1" rev="0" advAuto="0" spid="641" grpId="14"/>
      <p:bldP build="whole" bldLvl="1" animBg="1" rev="0" advAuto="0" spid="665" grpId="33"/>
      <p:bldP build="whole" bldLvl="1" animBg="1" rev="0" advAuto="0" spid="655" grpId="23"/>
      <p:bldP build="whole" bldLvl="1" animBg="1" rev="0" advAuto="0" spid="654" grpId="22"/>
      <p:bldP build="whole" bldLvl="1" animBg="1" rev="0" advAuto="0" spid="666" grpId="34"/>
      <p:bldP build="whole" bldLvl="1" animBg="1" rev="0" advAuto="0" spid="663" grpId="30"/>
      <p:bldP build="whole" bldLvl="1" animBg="1" rev="0" advAuto="0" spid="640" grpId="1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Query"/>
          <p:cNvSpPr txBox="1"/>
          <p:nvPr/>
        </p:nvSpPr>
        <p:spPr>
          <a:xfrm>
            <a:off x="673100" y="711199"/>
            <a:ext cx="144829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Query</a:t>
            </a:r>
          </a:p>
        </p:txBody>
      </p:sp>
      <p:sp>
        <p:nvSpPr>
          <p:cNvPr id="673" name="Line"/>
          <p:cNvSpPr/>
          <p:nvPr/>
        </p:nvSpPr>
        <p:spPr>
          <a:xfrm>
            <a:off x="515235" y="1666301"/>
            <a:ext cx="7855131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74" name="SELECT"/>
          <p:cNvSpPr txBox="1"/>
          <p:nvPr/>
        </p:nvSpPr>
        <p:spPr>
          <a:xfrm>
            <a:off x="2662571" y="2385508"/>
            <a:ext cx="1897758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SELECT</a:t>
            </a:r>
          </a:p>
        </p:txBody>
      </p:sp>
      <p:sp>
        <p:nvSpPr>
          <p:cNvPr id="675" name="bb.borrow_id, bb.borrow_date"/>
          <p:cNvSpPr/>
          <p:nvPr/>
        </p:nvSpPr>
        <p:spPr>
          <a:xfrm>
            <a:off x="5103386" y="2515104"/>
            <a:ext cx="6230779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bb.borrow_id, bb.borrow_date</a:t>
            </a:r>
          </a:p>
        </p:txBody>
      </p:sp>
      <p:sp>
        <p:nvSpPr>
          <p:cNvPr id="676" name="u.user_id, u.first_name, u.last_name, u.email"/>
          <p:cNvSpPr/>
          <p:nvPr/>
        </p:nvSpPr>
        <p:spPr>
          <a:xfrm>
            <a:off x="11769691" y="2515104"/>
            <a:ext cx="876761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u.user_id, u.first_name, u.last_name, u.email</a:t>
            </a:r>
          </a:p>
        </p:txBody>
      </p:sp>
      <p:sp>
        <p:nvSpPr>
          <p:cNvPr id="677" name="FROM"/>
          <p:cNvSpPr txBox="1"/>
          <p:nvPr/>
        </p:nvSpPr>
        <p:spPr>
          <a:xfrm>
            <a:off x="2662571" y="6121910"/>
            <a:ext cx="149939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FROM</a:t>
            </a:r>
          </a:p>
        </p:txBody>
      </p:sp>
      <p:sp>
        <p:nvSpPr>
          <p:cNvPr id="678" name="borrowed_books"/>
          <p:cNvSpPr/>
          <p:nvPr/>
        </p:nvSpPr>
        <p:spPr>
          <a:xfrm>
            <a:off x="4532950" y="6105399"/>
            <a:ext cx="3817715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borrowed_books</a:t>
            </a:r>
          </a:p>
        </p:txBody>
      </p:sp>
      <p:sp>
        <p:nvSpPr>
          <p:cNvPr id="679" name="JOIN"/>
          <p:cNvSpPr txBox="1"/>
          <p:nvPr/>
        </p:nvSpPr>
        <p:spPr>
          <a:xfrm>
            <a:off x="2662571" y="7456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680" name="users"/>
          <p:cNvSpPr/>
          <p:nvPr/>
        </p:nvSpPr>
        <p:spPr>
          <a:xfrm>
            <a:off x="4532950" y="7440175"/>
            <a:ext cx="1752434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681" name="ON"/>
          <p:cNvSpPr txBox="1"/>
          <p:nvPr/>
        </p:nvSpPr>
        <p:spPr>
          <a:xfrm>
            <a:off x="7374945" y="7485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682" name="u.user_id"/>
          <p:cNvSpPr/>
          <p:nvPr/>
        </p:nvSpPr>
        <p:spPr>
          <a:xfrm>
            <a:off x="12593625" y="7440175"/>
            <a:ext cx="2691738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u.user_id</a:t>
            </a:r>
          </a:p>
        </p:txBody>
      </p:sp>
      <p:sp>
        <p:nvSpPr>
          <p:cNvPr id="683" name="bb.user_id"/>
          <p:cNvSpPr/>
          <p:nvPr/>
        </p:nvSpPr>
        <p:spPr>
          <a:xfrm>
            <a:off x="8682024" y="7440175"/>
            <a:ext cx="288890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bb.user_id</a:t>
            </a:r>
          </a:p>
        </p:txBody>
      </p:sp>
      <p:sp>
        <p:nvSpPr>
          <p:cNvPr id="684" name="="/>
          <p:cNvSpPr txBox="1"/>
          <p:nvPr/>
        </p:nvSpPr>
        <p:spPr>
          <a:xfrm>
            <a:off x="11869229" y="7456685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685" name="lc.card_id, lc.card_number, lc.issue_date"/>
          <p:cNvSpPr/>
          <p:nvPr/>
        </p:nvSpPr>
        <p:spPr>
          <a:xfrm>
            <a:off x="4532950" y="3723802"/>
            <a:ext cx="7911690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lc.card_id, lc.card_number, lc.issue_date</a:t>
            </a:r>
          </a:p>
        </p:txBody>
      </p:sp>
      <p:sp>
        <p:nvSpPr>
          <p:cNvPr id="686" name="b.book_id, b.title, b.isbn"/>
          <p:cNvSpPr/>
          <p:nvPr/>
        </p:nvSpPr>
        <p:spPr>
          <a:xfrm>
            <a:off x="12783691" y="3723802"/>
            <a:ext cx="4931452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b.book_id, b.title, b.isbn</a:t>
            </a:r>
          </a:p>
        </p:txBody>
      </p:sp>
      <p:sp>
        <p:nvSpPr>
          <p:cNvPr id="687" name="a.author_id, a.first_name AS auth_first, a.last_name AS auth_last"/>
          <p:cNvSpPr/>
          <p:nvPr/>
        </p:nvSpPr>
        <p:spPr>
          <a:xfrm>
            <a:off x="4532950" y="4908892"/>
            <a:ext cx="12566370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a.author_id, a.first_name </a:t>
            </a:r>
            <a:r>
              <a:rPr>
                <a:solidFill>
                  <a:srgbClr val="34A3C5"/>
                </a:solidFill>
              </a:rPr>
              <a:t>AS</a:t>
            </a:r>
            <a:r>
              <a:t> auth_first, a.last_name </a:t>
            </a:r>
            <a:r>
              <a:rPr>
                <a:solidFill>
                  <a:srgbClr val="34A3C5"/>
                </a:solidFill>
              </a:rPr>
              <a:t>AS</a:t>
            </a:r>
            <a:r>
              <a:t> auth_last</a:t>
            </a:r>
          </a:p>
        </p:txBody>
      </p:sp>
      <p:sp>
        <p:nvSpPr>
          <p:cNvPr id="688" name="JOIN"/>
          <p:cNvSpPr txBox="1"/>
          <p:nvPr/>
        </p:nvSpPr>
        <p:spPr>
          <a:xfrm>
            <a:off x="2662571" y="8726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689" name="library_cards"/>
          <p:cNvSpPr/>
          <p:nvPr/>
        </p:nvSpPr>
        <p:spPr>
          <a:xfrm>
            <a:off x="4532950" y="8710175"/>
            <a:ext cx="308616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library_cards</a:t>
            </a:r>
          </a:p>
        </p:txBody>
      </p:sp>
      <p:sp>
        <p:nvSpPr>
          <p:cNvPr id="690" name="ON"/>
          <p:cNvSpPr txBox="1"/>
          <p:nvPr/>
        </p:nvSpPr>
        <p:spPr>
          <a:xfrm>
            <a:off x="9025945" y="8755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691" name="lc.card_id"/>
          <p:cNvSpPr/>
          <p:nvPr/>
        </p:nvSpPr>
        <p:spPr>
          <a:xfrm>
            <a:off x="13812825" y="8710175"/>
            <a:ext cx="2691738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lc.card_id</a:t>
            </a:r>
          </a:p>
        </p:txBody>
      </p:sp>
      <p:sp>
        <p:nvSpPr>
          <p:cNvPr id="692" name="u.card_id"/>
          <p:cNvSpPr/>
          <p:nvPr/>
        </p:nvSpPr>
        <p:spPr>
          <a:xfrm>
            <a:off x="10489134" y="8710175"/>
            <a:ext cx="233277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u.card_id</a:t>
            </a:r>
          </a:p>
        </p:txBody>
      </p:sp>
      <p:sp>
        <p:nvSpPr>
          <p:cNvPr id="693" name="="/>
          <p:cNvSpPr txBox="1"/>
          <p:nvPr/>
        </p:nvSpPr>
        <p:spPr>
          <a:xfrm>
            <a:off x="13088429" y="8726685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694" name="JOIN"/>
          <p:cNvSpPr txBox="1"/>
          <p:nvPr/>
        </p:nvSpPr>
        <p:spPr>
          <a:xfrm>
            <a:off x="2662571" y="9996685"/>
            <a:ext cx="122555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695" name="books"/>
          <p:cNvSpPr/>
          <p:nvPr/>
        </p:nvSpPr>
        <p:spPr>
          <a:xfrm>
            <a:off x="4532950" y="9980175"/>
            <a:ext cx="2068190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books</a:t>
            </a:r>
          </a:p>
        </p:txBody>
      </p:sp>
      <p:sp>
        <p:nvSpPr>
          <p:cNvPr id="696" name="ON"/>
          <p:cNvSpPr txBox="1"/>
          <p:nvPr/>
        </p:nvSpPr>
        <p:spPr>
          <a:xfrm>
            <a:off x="7882945" y="10025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697" name="b.book_id"/>
          <p:cNvSpPr/>
          <p:nvPr/>
        </p:nvSpPr>
        <p:spPr>
          <a:xfrm>
            <a:off x="13304825" y="9980175"/>
            <a:ext cx="235198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b.book_id</a:t>
            </a:r>
          </a:p>
        </p:txBody>
      </p:sp>
      <p:sp>
        <p:nvSpPr>
          <p:cNvPr id="698" name="bb.book_id"/>
          <p:cNvSpPr/>
          <p:nvPr/>
        </p:nvSpPr>
        <p:spPr>
          <a:xfrm>
            <a:off x="9346134" y="9980175"/>
            <a:ext cx="288890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bb.book_id</a:t>
            </a:r>
          </a:p>
        </p:txBody>
      </p:sp>
      <p:sp>
        <p:nvSpPr>
          <p:cNvPr id="699" name="="/>
          <p:cNvSpPr txBox="1"/>
          <p:nvPr/>
        </p:nvSpPr>
        <p:spPr>
          <a:xfrm>
            <a:off x="12580429" y="9996685"/>
            <a:ext cx="4260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700" name="LEFT JOIN"/>
          <p:cNvSpPr txBox="1"/>
          <p:nvPr/>
        </p:nvSpPr>
        <p:spPr>
          <a:xfrm>
            <a:off x="2662571" y="11266685"/>
            <a:ext cx="246355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LEFT JOIN</a:t>
            </a:r>
          </a:p>
        </p:txBody>
      </p:sp>
      <p:sp>
        <p:nvSpPr>
          <p:cNvPr id="701" name="book_author_mapping"/>
          <p:cNvSpPr/>
          <p:nvPr/>
        </p:nvSpPr>
        <p:spPr>
          <a:xfrm>
            <a:off x="5675950" y="11250175"/>
            <a:ext cx="5085651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book_author_mapping</a:t>
            </a:r>
          </a:p>
        </p:txBody>
      </p:sp>
      <p:sp>
        <p:nvSpPr>
          <p:cNvPr id="702" name="ON"/>
          <p:cNvSpPr txBox="1"/>
          <p:nvPr/>
        </p:nvSpPr>
        <p:spPr>
          <a:xfrm>
            <a:off x="12835945" y="11295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703" name="b.book_id"/>
          <p:cNvSpPr/>
          <p:nvPr/>
        </p:nvSpPr>
        <p:spPr>
          <a:xfrm>
            <a:off x="18638825" y="11250175"/>
            <a:ext cx="235198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b.book_id</a:t>
            </a:r>
          </a:p>
        </p:txBody>
      </p:sp>
      <p:sp>
        <p:nvSpPr>
          <p:cNvPr id="704" name="bam.book_id"/>
          <p:cNvSpPr/>
          <p:nvPr/>
        </p:nvSpPr>
        <p:spPr>
          <a:xfrm>
            <a:off x="14299134" y="11250175"/>
            <a:ext cx="3335946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bam.book_id</a:t>
            </a:r>
          </a:p>
        </p:txBody>
      </p:sp>
      <p:sp>
        <p:nvSpPr>
          <p:cNvPr id="705" name="="/>
          <p:cNvSpPr txBox="1"/>
          <p:nvPr/>
        </p:nvSpPr>
        <p:spPr>
          <a:xfrm>
            <a:off x="17914429" y="11266685"/>
            <a:ext cx="42609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706" name="LEFT JOIN"/>
          <p:cNvSpPr txBox="1"/>
          <p:nvPr/>
        </p:nvSpPr>
        <p:spPr>
          <a:xfrm>
            <a:off x="2662571" y="12536685"/>
            <a:ext cx="246355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LEFT JOIN</a:t>
            </a:r>
          </a:p>
        </p:txBody>
      </p:sp>
      <p:sp>
        <p:nvSpPr>
          <p:cNvPr id="707" name="authors"/>
          <p:cNvSpPr/>
          <p:nvPr/>
        </p:nvSpPr>
        <p:spPr>
          <a:xfrm>
            <a:off x="5675950" y="12520175"/>
            <a:ext cx="2438153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authors</a:t>
            </a:r>
          </a:p>
        </p:txBody>
      </p:sp>
      <p:sp>
        <p:nvSpPr>
          <p:cNvPr id="708" name="ON"/>
          <p:cNvSpPr txBox="1"/>
          <p:nvPr/>
        </p:nvSpPr>
        <p:spPr>
          <a:xfrm>
            <a:off x="9533945" y="12565895"/>
            <a:ext cx="85050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34A3C5"/>
                </a:solidFill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709" name="a.author_id"/>
          <p:cNvSpPr/>
          <p:nvPr/>
        </p:nvSpPr>
        <p:spPr>
          <a:xfrm>
            <a:off x="15590825" y="12520175"/>
            <a:ext cx="2691738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a.author_id</a:t>
            </a:r>
          </a:p>
        </p:txBody>
      </p:sp>
      <p:sp>
        <p:nvSpPr>
          <p:cNvPr id="710" name="bam.author_id"/>
          <p:cNvSpPr/>
          <p:nvPr/>
        </p:nvSpPr>
        <p:spPr>
          <a:xfrm>
            <a:off x="10997134" y="12520175"/>
            <a:ext cx="3618827" cy="744221"/>
          </a:xfrm>
          <a:prstGeom prst="roundRect">
            <a:avLst>
              <a:gd name="adj" fmla="val 25597"/>
            </a:avLst>
          </a:prstGeom>
          <a:ln w="25400">
            <a:solidFill>
              <a:srgbClr val="B46EC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bam.author_id</a:t>
            </a:r>
          </a:p>
        </p:txBody>
      </p:sp>
      <p:sp>
        <p:nvSpPr>
          <p:cNvPr id="711" name="="/>
          <p:cNvSpPr txBox="1"/>
          <p:nvPr/>
        </p:nvSpPr>
        <p:spPr>
          <a:xfrm>
            <a:off x="14866429" y="12536685"/>
            <a:ext cx="42609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  <p:sp>
        <p:nvSpPr>
          <p:cNvPr id="712" name="bb"/>
          <p:cNvSpPr txBox="1"/>
          <p:nvPr/>
        </p:nvSpPr>
        <p:spPr>
          <a:xfrm>
            <a:off x="8743047" y="6081282"/>
            <a:ext cx="68629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bb</a:t>
            </a:r>
          </a:p>
        </p:txBody>
      </p:sp>
      <p:sp>
        <p:nvSpPr>
          <p:cNvPr id="713" name="u"/>
          <p:cNvSpPr txBox="1"/>
          <p:nvPr/>
        </p:nvSpPr>
        <p:spPr>
          <a:xfrm>
            <a:off x="6671450" y="7465402"/>
            <a:ext cx="38665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</a:t>
            </a:r>
          </a:p>
        </p:txBody>
      </p:sp>
      <p:sp>
        <p:nvSpPr>
          <p:cNvPr id="714" name="lc"/>
          <p:cNvSpPr txBox="1"/>
          <p:nvPr/>
        </p:nvSpPr>
        <p:spPr>
          <a:xfrm>
            <a:off x="8081627" y="8726685"/>
            <a:ext cx="48190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lc</a:t>
            </a:r>
          </a:p>
        </p:txBody>
      </p:sp>
      <p:sp>
        <p:nvSpPr>
          <p:cNvPr id="715" name="b"/>
          <p:cNvSpPr txBox="1"/>
          <p:nvPr/>
        </p:nvSpPr>
        <p:spPr>
          <a:xfrm>
            <a:off x="7043269" y="9982080"/>
            <a:ext cx="40029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</a:t>
            </a:r>
          </a:p>
        </p:txBody>
      </p:sp>
      <p:sp>
        <p:nvSpPr>
          <p:cNvPr id="716" name="bam"/>
          <p:cNvSpPr txBox="1"/>
          <p:nvPr/>
        </p:nvSpPr>
        <p:spPr>
          <a:xfrm>
            <a:off x="11304659" y="11266685"/>
            <a:ext cx="1072754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bam</a:t>
            </a:r>
          </a:p>
        </p:txBody>
      </p:sp>
      <p:sp>
        <p:nvSpPr>
          <p:cNvPr id="717" name="a"/>
          <p:cNvSpPr txBox="1"/>
          <p:nvPr/>
        </p:nvSpPr>
        <p:spPr>
          <a:xfrm>
            <a:off x="8630224" y="12507475"/>
            <a:ext cx="37400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roup"/>
          <p:cNvGrpSpPr/>
          <p:nvPr/>
        </p:nvGrpSpPr>
        <p:grpSpPr>
          <a:xfrm>
            <a:off x="9974827" y="6401413"/>
            <a:ext cx="3487174" cy="2405424"/>
            <a:chOff x="2098654" y="654049"/>
            <a:chExt cx="3487173" cy="2405423"/>
          </a:xfrm>
        </p:grpSpPr>
        <p:sp>
          <p:nvSpPr>
            <p:cNvPr id="719" name="Group"/>
            <p:cNvSpPr/>
            <p:nvPr/>
          </p:nvSpPr>
          <p:spPr>
            <a:xfrm>
              <a:off x="2098654" y="178947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5000"/>
              </a:pPr>
              <a:r>
                <a:rPr>
                  <a:solidFill>
                    <a:srgbClr val="34A3C5"/>
                  </a:solidFill>
                </a:rPr>
                <a:t>getAllBorrows</a:t>
              </a:r>
              <a:r>
                <a:t>( )</a:t>
              </a:r>
            </a:p>
          </p:txBody>
        </p:sp>
        <p:sp>
          <p:nvSpPr>
            <p:cNvPr id="720" name="Now let’s implement"/>
            <p:cNvSpPr/>
            <p:nvPr/>
          </p:nvSpPr>
          <p:spPr>
            <a:xfrm>
              <a:off x="4315827" y="65404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8000"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>
                <a:defRPr>
                  <a:solidFill>
                    <a:srgbClr val="34A3C5"/>
                  </a:solidFill>
                </a:defRPr>
              </a:pPr>
              <a:r>
                <a:rPr>
                  <a:solidFill>
                    <a:schemeClr val="accent1">
                      <a:satOff val="-9155"/>
                      <a:lumOff val="-32673"/>
                    </a:schemeClr>
                  </a:solidFill>
                </a:rPr>
                <a:t>Now let’s implement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 thruBlk="1"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roup"/>
          <p:cNvGrpSpPr/>
          <p:nvPr/>
        </p:nvGrpSpPr>
        <p:grpSpPr>
          <a:xfrm>
            <a:off x="8806236" y="5841462"/>
            <a:ext cx="6771528" cy="2033076"/>
            <a:chOff x="0" y="0"/>
            <a:chExt cx="6771526" cy="2033074"/>
          </a:xfrm>
        </p:grpSpPr>
        <p:sp>
          <p:nvSpPr>
            <p:cNvPr id="723" name="H U R R A Y   ! ! !"/>
            <p:cNvSpPr txBox="1"/>
            <p:nvPr/>
          </p:nvSpPr>
          <p:spPr>
            <a:xfrm>
              <a:off x="0" y="0"/>
              <a:ext cx="6771528" cy="1308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8000">
                  <a:solidFill>
                    <a:schemeClr val="accent4">
                      <a:hueOff val="-297102"/>
                      <a:satOff val="16978"/>
                      <a:lumOff val="-20883"/>
                    </a:schemeClr>
                  </a:solidFill>
                  <a:latin typeface="SF Pro Light"/>
                  <a:ea typeface="SF Pro Light"/>
                  <a:cs typeface="SF Pro Light"/>
                  <a:sym typeface="SF Pro Light"/>
                </a:defRPr>
              </a:lvl1pPr>
            </a:lstStyle>
            <a:p>
              <a:pPr/>
              <a:r>
                <a:t>H U R R A Y   ! ! !</a:t>
              </a:r>
            </a:p>
          </p:txBody>
        </p:sp>
        <p:sp>
          <p:nvSpPr>
            <p:cNvPr id="724" name="We’ve done the foundation of JDBC"/>
            <p:cNvSpPr txBox="1"/>
            <p:nvPr/>
          </p:nvSpPr>
          <p:spPr>
            <a:xfrm>
              <a:off x="609588" y="1477703"/>
              <a:ext cx="5552352" cy="5553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2700">
                  <a:latin typeface="Graphik"/>
                  <a:ea typeface="Graphik"/>
                  <a:cs typeface="Graphik"/>
                  <a:sym typeface="Graphik"/>
                </a:defRPr>
              </a:lvl1pPr>
            </a:lstStyle>
            <a:p>
              <a:pPr/>
              <a:r>
                <a:t>We’ve done the foundation of JDBC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SF Pro Regular"/>
            <a:ea typeface="SF Pro Regular"/>
            <a:cs typeface="SF Pro Regular"/>
            <a:sym typeface="SF Pro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SF Pro Regular"/>
            <a:ea typeface="SF Pro Regular"/>
            <a:cs typeface="SF Pro Regular"/>
            <a:sym typeface="SF Pro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